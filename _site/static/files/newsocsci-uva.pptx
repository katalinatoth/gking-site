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2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3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4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5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6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7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8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67" r:id="rId2"/>
    <p:sldId id="269" r:id="rId3"/>
    <p:sldId id="271" r:id="rId4"/>
    <p:sldId id="270" r:id="rId5"/>
    <p:sldId id="272" r:id="rId6"/>
    <p:sldId id="273" r:id="rId7"/>
    <p:sldId id="266" r:id="rId8"/>
    <p:sldId id="261" r:id="rId9"/>
    <p:sldId id="262" r:id="rId10"/>
    <p:sldId id="263" r:id="rId11"/>
    <p:sldId id="264" r:id="rId12"/>
    <p:sldId id="265" r:id="rId13"/>
    <p:sldId id="260" r:id="rId14"/>
    <p:sldId id="259" r:id="rId15"/>
    <p:sldId id="27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BA77E7E-4D73-4F26-8FD6-1CE42A79FDA0}">
          <p14:sldIdLst>
            <p14:sldId id="267"/>
          </p14:sldIdLst>
        </p14:section>
        <p14:section name="Untitled Section" id="{1EE70768-BB08-49A2-AFD4-89D0B677A29C}">
          <p14:sldIdLst>
            <p14:sldId id="269"/>
            <p14:sldId id="271"/>
            <p14:sldId id="270"/>
            <p14:sldId id="272"/>
            <p14:sldId id="273"/>
            <p14:sldId id="266"/>
            <p14:sldId id="261"/>
            <p14:sldId id="262"/>
            <p14:sldId id="263"/>
            <p14:sldId id="264"/>
            <p14:sldId id="265"/>
            <p14:sldId id="260"/>
            <p14:sldId id="259"/>
            <p14:sldId id="27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7F34"/>
    <a:srgbClr val="FA9451"/>
    <a:srgbClr val="D16309"/>
    <a:srgbClr val="BB4B00"/>
    <a:srgbClr val="AE4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4" autoAdjust="0"/>
    <p:restoredTop sz="94673" autoAdjust="0"/>
  </p:normalViewPr>
  <p:slideViewPr>
    <p:cSldViewPr snapToGrid="0" snapToObjects="1">
      <p:cViewPr varScale="1">
        <p:scale>
          <a:sx n="84" d="100"/>
          <a:sy n="84" d="100"/>
        </p:scale>
        <p:origin x="-1406" y="-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8DF98D-BABD-C24D-97B5-B0DD1CB07F95}" type="datetimeFigureOut">
              <a:rPr lang="en-US" smtClean="0"/>
              <a:pPr/>
              <a:t>9/13/2012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D64EF-CBAD-AD48-88A5-70396EA7D0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6776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BD68E-0A37-BC4B-86C2-AB193D56C553}" type="datetimeFigureOut">
              <a:rPr lang="en-US" smtClean="0"/>
              <a:pPr/>
              <a:t>9/13/2012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778B4-8250-3745-91CA-F53ADD91A7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8036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778B4-8250-3745-91CA-F53ADD91A73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7541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778B4-8250-3745-91CA-F53ADD91A73D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778B4-8250-3745-91CA-F53ADD91A73D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778B4-8250-3745-91CA-F53ADD91A73D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778B4-8250-3745-91CA-F53ADD91A73D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778B4-8250-3745-91CA-F53ADD91A73D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778B4-8250-3745-91CA-F53ADD91A73D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778B4-8250-3745-91CA-F53ADD91A73D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D778B4-8250-3745-91CA-F53ADD91A73D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0.xml"/><Relationship Id="rId4" Type="http://schemas.openxmlformats.org/officeDocument/2006/relationships/tags" Target="../tags/tag5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5.xml"/><Relationship Id="rId4" Type="http://schemas.openxmlformats.org/officeDocument/2006/relationships/tags" Target="../tags/tag6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jpeg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1079639" y="-1"/>
            <a:ext cx="8064361" cy="795303"/>
          </a:xfrm>
          <a:prstGeom prst="rect">
            <a:avLst/>
          </a:prstGeom>
          <a:gradFill flip="none" rotWithShape="1">
            <a:gsLst>
              <a:gs pos="0">
                <a:srgbClr val="BB4B00"/>
              </a:gs>
              <a:gs pos="100000">
                <a:srgbClr val="E37F34"/>
              </a:gs>
            </a:gsLst>
            <a:lin ang="0" scaled="1"/>
            <a:tileRect/>
          </a:gra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0A43C-4B07-C740-8E5C-A2376CD45EC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coverbigcgis.jpeg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2" y="-8466"/>
            <a:ext cx="1079637" cy="815468"/>
          </a:xfrm>
          <a:prstGeom prst="rect">
            <a:avLst/>
          </a:prstGeom>
        </p:spPr>
      </p:pic>
      <p:pic>
        <p:nvPicPr>
          <p:cNvPr id="10" name="Picture 9" descr="392927_300.jpeg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4370823" y="6346039"/>
            <a:ext cx="365125" cy="3651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76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8.xml"/><Relationship Id="rId4" Type="http://schemas.openxmlformats.org/officeDocument/2006/relationships/tags" Target="../tags/tag7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81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3.xml"/><Relationship Id="rId4" Type="http://schemas.openxmlformats.org/officeDocument/2006/relationships/tags" Target="../tags/tag8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90.xml"/><Relationship Id="rId7" Type="http://schemas.openxmlformats.org/officeDocument/2006/relationships/notesSlide" Target="../notesSlides/notesSlide7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2.xml"/><Relationship Id="rId4" Type="http://schemas.openxmlformats.org/officeDocument/2006/relationships/tags" Target="../tags/tag9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13" Type="http://schemas.openxmlformats.org/officeDocument/2006/relationships/slideLayout" Target="../slideLayouts/slideLayout6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12" Type="http://schemas.openxmlformats.org/officeDocument/2006/relationships/tags" Target="../tags/tag108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tags" Target="../tags/tag107.xml"/><Relationship Id="rId5" Type="http://schemas.openxmlformats.org/officeDocument/2006/relationships/tags" Target="../tags/tag101.xml"/><Relationship Id="rId10" Type="http://schemas.openxmlformats.org/officeDocument/2006/relationships/tags" Target="../tags/tag106.xml"/><Relationship Id="rId4" Type="http://schemas.openxmlformats.org/officeDocument/2006/relationships/tags" Target="../tags/tag100.xml"/><Relationship Id="rId9" Type="http://schemas.openxmlformats.org/officeDocument/2006/relationships/tags" Target="../tags/tag105.xml"/><Relationship Id="rId14" Type="http://schemas.openxmlformats.org/officeDocument/2006/relationships/notesSlide" Target="../notesSlides/notesSlide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95412"/>
            <a:ext cx="7772400" cy="1470025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Remaking the Social Sciences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285592" y="3521798"/>
            <a:ext cx="6486808" cy="213661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4800" dirty="0" smtClean="0">
                <a:solidFill>
                  <a:srgbClr val="000000"/>
                </a:solidFill>
                <a:latin typeface="CMSS10"/>
              </a:rPr>
              <a:t>Gary King</a:t>
            </a:r>
          </a:p>
          <a:p>
            <a:pPr marL="0" indent="0">
              <a:buNone/>
            </a:pPr>
            <a:endParaRPr lang="en-US" sz="4800" dirty="0">
              <a:solidFill>
                <a:srgbClr val="000000"/>
              </a:solidFill>
              <a:latin typeface="CMSS10"/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CMSS8"/>
              </a:rPr>
              <a:t>Institute for Quantitative Social Science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CMSS8"/>
              </a:rPr>
              <a:t>Harvard </a:t>
            </a:r>
            <a:r>
              <a:rPr lang="en-US" dirty="0" smtClean="0">
                <a:solidFill>
                  <a:srgbClr val="000000"/>
                </a:solidFill>
                <a:latin typeface="CMSS8"/>
              </a:rPr>
              <a:t>University</a:t>
            </a:r>
          </a:p>
          <a:p>
            <a:pPr marL="0" indent="0" algn="ctr">
              <a:buNone/>
            </a:pPr>
            <a:endParaRPr lang="en-US" dirty="0">
              <a:solidFill>
                <a:srgbClr val="000000"/>
              </a:solidFill>
              <a:latin typeface="CMSS8"/>
            </a:endParaRPr>
          </a:p>
          <a:p>
            <a:pPr marL="0" indent="0" algn="ctr">
              <a:buNone/>
            </a:pPr>
            <a:endParaRPr lang="en-US" dirty="0">
              <a:solidFill>
                <a:srgbClr val="000000"/>
              </a:solidFill>
              <a:latin typeface="CMSS8"/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CMSS8"/>
              </a:rPr>
              <a:t>(talk at University of Virginia, 9/14/12)</a:t>
            </a:r>
          </a:p>
          <a:p>
            <a:pPr algn="ctr"/>
            <a:r>
              <a:rPr lang="en-US" sz="800" dirty="0">
                <a:solidFill>
                  <a:srgbClr val="FFFFFF"/>
                </a:solidFill>
                <a:latin typeface="CMSS8"/>
              </a:rPr>
              <a:t>Gary King (Harvard) Quantitative Social Science 1 / 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25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FFFF"/>
                </a:solidFill>
                <a:latin typeface="CMSS12"/>
              </a:rPr>
              <a:t>The Spectacular Success of Quantitative </a:t>
            </a:r>
            <a:br>
              <a:rPr lang="en-US" dirty="0" smtClean="0">
                <a:solidFill>
                  <a:srgbClr val="FFFFFF"/>
                </a:solidFill>
                <a:latin typeface="CMSS12"/>
              </a:rPr>
            </a:br>
            <a:r>
              <a:rPr lang="en-US" dirty="0" smtClean="0">
                <a:solidFill>
                  <a:srgbClr val="FFFFFF"/>
                </a:solidFill>
                <a:latin typeface="CMSS12"/>
              </a:rPr>
              <a:t>Social Science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rgbClr val="FF0000"/>
                </a:solidFill>
                <a:latin typeface="CMSS10"/>
              </a:rPr>
              <a:t>What university research has had the biggest impact on you?</a:t>
            </a:r>
          </a:p>
          <a:p>
            <a:pPr>
              <a:buFont typeface="Courier New" pitchFamily="49" charset="0"/>
              <a:buChar char="o"/>
            </a:pPr>
            <a:r>
              <a:rPr lang="en-US" sz="2000" dirty="0" smtClean="0">
                <a:solidFill>
                  <a:srgbClr val="000000"/>
                </a:solidFill>
                <a:latin typeface="CMSS10"/>
              </a:rPr>
              <a:t>The genetics revolution</a:t>
            </a:r>
            <a:r>
              <a:rPr lang="en-US" sz="2000" dirty="0" smtClean="0">
                <a:solidFill>
                  <a:srgbClr val="000000"/>
                </a:solidFill>
                <a:latin typeface="CMSS10"/>
              </a:rPr>
              <a:t>?</a:t>
            </a:r>
            <a:endParaRPr lang="en-US" sz="2000" dirty="0" smtClean="0">
              <a:solidFill>
                <a:srgbClr val="000000"/>
              </a:solidFill>
              <a:latin typeface="CMSS10"/>
            </a:endParaRPr>
          </a:p>
          <a:p>
            <a:pPr>
              <a:buFont typeface="Courier New" pitchFamily="49" charset="0"/>
              <a:buChar char="o"/>
            </a:pPr>
            <a:r>
              <a:rPr lang="en-US" sz="2000" dirty="0" smtClean="0">
                <a:solidFill>
                  <a:srgbClr val="000000"/>
                </a:solidFill>
                <a:latin typeface="CMSS10"/>
              </a:rPr>
              <a:t>The Higgs-like particle</a:t>
            </a:r>
            <a:r>
              <a:rPr lang="en-US" sz="2000" dirty="0" smtClean="0">
                <a:solidFill>
                  <a:srgbClr val="000000"/>
                </a:solidFill>
                <a:latin typeface="CMSS10"/>
              </a:rPr>
              <a:t>? </a:t>
            </a:r>
            <a:endParaRPr lang="en-US" sz="2000" dirty="0" smtClean="0">
              <a:solidFill>
                <a:srgbClr val="000000"/>
              </a:solidFill>
              <a:latin typeface="CMSS10"/>
            </a:endParaRPr>
          </a:p>
          <a:p>
            <a:pPr>
              <a:buFont typeface="Courier New" pitchFamily="49" charset="0"/>
              <a:buChar char="o"/>
            </a:pPr>
            <a:r>
              <a:rPr lang="en-US" sz="2000" dirty="0" err="1" smtClean="0">
                <a:solidFill>
                  <a:srgbClr val="000000"/>
                </a:solidFill>
                <a:latin typeface="CMSS10"/>
              </a:rPr>
              <a:t>Exoplanets</a:t>
            </a:r>
            <a:r>
              <a:rPr lang="en-US" sz="2000" dirty="0" smtClean="0">
                <a:solidFill>
                  <a:srgbClr val="000000"/>
                </a:solidFill>
                <a:latin typeface="CMSS10"/>
              </a:rPr>
              <a:t>? The Mars rovers?</a:t>
            </a:r>
          </a:p>
          <a:p>
            <a:pPr>
              <a:buFont typeface="Courier New" pitchFamily="49" charset="0"/>
              <a:buChar char="o"/>
            </a:pPr>
            <a:r>
              <a:rPr lang="en-US" sz="2000" dirty="0" smtClean="0">
                <a:solidFill>
                  <a:srgbClr val="000000"/>
                </a:solidFill>
                <a:latin typeface="CMSS10"/>
              </a:rPr>
              <a:t>Doubling the human life span in the last century?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sz="2000" dirty="0" smtClean="0">
                <a:solidFill>
                  <a:srgbClr val="000000"/>
                </a:solidFill>
                <a:latin typeface="CMSS10"/>
              </a:rPr>
              <a:t>                   	</a:t>
            </a:r>
            <a:r>
              <a:rPr lang="en-US" sz="1400" dirty="0" smtClean="0">
                <a:solidFill>
                  <a:srgbClr val="000000"/>
                </a:solidFill>
                <a:latin typeface="CMSS10"/>
              </a:rPr>
              <a:t>•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CMSS10"/>
              </a:rPr>
              <a:t>	</a:t>
            </a:r>
            <a:r>
              <a:rPr lang="en-US" sz="1400" dirty="0" smtClean="0">
                <a:solidFill>
                  <a:srgbClr val="000000"/>
                </a:solidFill>
                <a:latin typeface="CMSS10"/>
              </a:rPr>
              <a:t>		•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CMSS10"/>
              </a:rPr>
              <a:t>	</a:t>
            </a:r>
            <a:r>
              <a:rPr lang="en-US" sz="1400" dirty="0" smtClean="0">
                <a:solidFill>
                  <a:srgbClr val="000000"/>
                </a:solidFill>
                <a:latin typeface="CMSS10"/>
              </a:rPr>
              <a:t>		•</a:t>
            </a:r>
            <a:r>
              <a:rPr lang="en-US" sz="2000" dirty="0" smtClean="0">
                <a:solidFill>
                  <a:srgbClr val="FFFFFF"/>
                </a:solidFill>
                <a:latin typeface="CMSS8"/>
              </a:rPr>
              <a:t>Gary</a:t>
            </a: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57198" y="3717769"/>
            <a:ext cx="350119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Font typeface="Courier New" pitchFamily="49" charset="0"/>
              <a:buChar char="o"/>
            </a:pPr>
            <a:r>
              <a:rPr lang="en-US" sz="2000" dirty="0">
                <a:solidFill>
                  <a:srgbClr val="FF0000"/>
                </a:solidFill>
                <a:latin typeface="CMSS10"/>
              </a:rPr>
              <a:t>Quantitative social </a:t>
            </a:r>
            <a:r>
              <a:rPr lang="en-US" sz="2000" dirty="0" smtClean="0">
                <a:solidFill>
                  <a:srgbClr val="FF0000"/>
                </a:solidFill>
                <a:latin typeface="CMSS10"/>
              </a:rPr>
              <a:t>science</a:t>
            </a:r>
            <a:endParaRPr lang="en-US" sz="2000" dirty="0">
              <a:solidFill>
                <a:srgbClr val="000000"/>
              </a:solidFill>
              <a:latin typeface="CMSS1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1" y="3717769"/>
            <a:ext cx="79167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CMSS10"/>
              </a:rPr>
              <a:t>							  (</a:t>
            </a:r>
            <a:r>
              <a:rPr lang="en-US" sz="2000" dirty="0">
                <a:solidFill>
                  <a:srgbClr val="000000"/>
                </a:solidFill>
                <a:latin typeface="CMSS10"/>
              </a:rPr>
              <a:t>aka “big data,” “data analytics,” “data science</a:t>
            </a:r>
            <a:r>
              <a:rPr lang="en-US" sz="2000" dirty="0" smtClean="0">
                <a:solidFill>
                  <a:srgbClr val="000000"/>
                </a:solidFill>
                <a:latin typeface="CMSS10"/>
              </a:rPr>
              <a:t>”):</a:t>
            </a:r>
            <a:endParaRPr lang="en-US" sz="2000" dirty="0"/>
          </a:p>
        </p:txBody>
      </p:sp>
      <p:sp>
        <p:nvSpPr>
          <p:cNvPr id="9" name="Rectangle 8"/>
          <p:cNvSpPr/>
          <p:nvPr/>
        </p:nvSpPr>
        <p:spPr>
          <a:xfrm>
            <a:off x="457201" y="4016936"/>
            <a:ext cx="79997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CMSS10"/>
              </a:rPr>
              <a:t>											    established </a:t>
            </a:r>
            <a:r>
              <a:rPr lang="en-US" sz="2000" dirty="0">
                <a:solidFill>
                  <a:srgbClr val="000000"/>
                </a:solidFill>
                <a:latin typeface="CMSS10"/>
              </a:rPr>
              <a:t>new industries; 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1643246" y="4320108"/>
            <a:ext cx="46698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MSS10"/>
              </a:rPr>
              <a:t>altered friendship networks (</a:t>
            </a:r>
            <a:r>
              <a:rPr lang="en-US" sz="2000" dirty="0" err="1">
                <a:solidFill>
                  <a:srgbClr val="000000"/>
                </a:solidFill>
                <a:latin typeface="CMSS10"/>
              </a:rPr>
              <a:t>facebook</a:t>
            </a:r>
            <a:r>
              <a:rPr lang="en-US" sz="2000" dirty="0">
                <a:solidFill>
                  <a:srgbClr val="000000"/>
                </a:solidFill>
                <a:latin typeface="CMSS10"/>
              </a:rPr>
              <a:t>); </a:t>
            </a:r>
            <a:endParaRPr lang="en-US" sz="2000" dirty="0"/>
          </a:p>
        </p:txBody>
      </p:sp>
      <p:sp>
        <p:nvSpPr>
          <p:cNvPr id="11" name="Rectangle 10"/>
          <p:cNvSpPr/>
          <p:nvPr/>
        </p:nvSpPr>
        <p:spPr>
          <a:xfrm>
            <a:off x="1631214" y="4023584"/>
            <a:ext cx="43941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MSS10"/>
              </a:rPr>
              <a:t>transformed most Fortune 500 firms; </a:t>
            </a:r>
            <a:endParaRPr lang="en-US" sz="2000" dirty="0"/>
          </a:p>
        </p:txBody>
      </p:sp>
      <p:sp>
        <p:nvSpPr>
          <p:cNvPr id="12" name="Rectangle 11"/>
          <p:cNvSpPr/>
          <p:nvPr/>
        </p:nvSpPr>
        <p:spPr>
          <a:xfrm>
            <a:off x="457201" y="4322409"/>
            <a:ext cx="77564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CMSS10"/>
              </a:rPr>
              <a:t>												  increased </a:t>
            </a:r>
            <a:r>
              <a:rPr lang="en-US" sz="2000" dirty="0">
                <a:solidFill>
                  <a:srgbClr val="000000"/>
                </a:solidFill>
                <a:latin typeface="CMSS10"/>
              </a:rPr>
              <a:t>human expressive capacity (social media); </a:t>
            </a:r>
            <a:endParaRPr lang="en-US" sz="2000" dirty="0"/>
          </a:p>
        </p:txBody>
      </p:sp>
      <p:sp>
        <p:nvSpPr>
          <p:cNvPr id="13" name="Rectangle 12"/>
          <p:cNvSpPr/>
          <p:nvPr/>
        </p:nvSpPr>
        <p:spPr>
          <a:xfrm>
            <a:off x="457198" y="4616843"/>
            <a:ext cx="775649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CMSS10"/>
              </a:rPr>
              <a:t>										    changed </a:t>
            </a:r>
            <a:r>
              <a:rPr lang="en-US" sz="2000" dirty="0">
                <a:solidFill>
                  <a:srgbClr val="000000"/>
                </a:solidFill>
                <a:latin typeface="CMSS10"/>
              </a:rPr>
              <a:t>political campaigns;</a:t>
            </a:r>
            <a:endParaRPr lang="en-US" sz="2000" dirty="0"/>
          </a:p>
        </p:txBody>
      </p:sp>
      <p:sp>
        <p:nvSpPr>
          <p:cNvPr id="14" name="Rectangle 13"/>
          <p:cNvSpPr/>
          <p:nvPr/>
        </p:nvSpPr>
        <p:spPr>
          <a:xfrm>
            <a:off x="1776552" y="4923593"/>
            <a:ext cx="32031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MSS10"/>
              </a:rPr>
              <a:t>transformed public health; </a:t>
            </a:r>
            <a:endParaRPr lang="en-US" sz="2000" dirty="0"/>
          </a:p>
        </p:txBody>
      </p:sp>
      <p:sp>
        <p:nvSpPr>
          <p:cNvPr id="15" name="Rectangle 14"/>
          <p:cNvSpPr/>
          <p:nvPr/>
        </p:nvSpPr>
        <p:spPr>
          <a:xfrm>
            <a:off x="4719812" y="4922567"/>
            <a:ext cx="28520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MSS10"/>
              </a:rPr>
              <a:t>changed legal analysis;</a:t>
            </a:r>
            <a:endParaRPr lang="en-US" sz="2000" dirty="0"/>
          </a:p>
        </p:txBody>
      </p:sp>
      <p:sp>
        <p:nvSpPr>
          <p:cNvPr id="16" name="Rectangle 15"/>
          <p:cNvSpPr/>
          <p:nvPr/>
        </p:nvSpPr>
        <p:spPr>
          <a:xfrm>
            <a:off x="457201" y="4924619"/>
            <a:ext cx="77564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CMSS10"/>
              </a:rPr>
              <a:t>														       impacted </a:t>
            </a:r>
            <a:r>
              <a:rPr lang="en-US" sz="2000" dirty="0">
                <a:solidFill>
                  <a:srgbClr val="000000"/>
                </a:solidFill>
                <a:latin typeface="CMSS10"/>
              </a:rPr>
              <a:t>crime and policing; </a:t>
            </a:r>
            <a:endParaRPr lang="en-US" sz="2000" dirty="0"/>
          </a:p>
        </p:txBody>
      </p:sp>
      <p:sp>
        <p:nvSpPr>
          <p:cNvPr id="17" name="Rectangle 16"/>
          <p:cNvSpPr/>
          <p:nvPr/>
        </p:nvSpPr>
        <p:spPr>
          <a:xfrm>
            <a:off x="3700365" y="5224444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MSS10"/>
              </a:rPr>
              <a:t>reinvented economics;</a:t>
            </a:r>
            <a:endParaRPr lang="en-US" sz="2000" dirty="0"/>
          </a:p>
        </p:txBody>
      </p:sp>
      <p:sp>
        <p:nvSpPr>
          <p:cNvPr id="18" name="Rectangle 17"/>
          <p:cNvSpPr/>
          <p:nvPr/>
        </p:nvSpPr>
        <p:spPr>
          <a:xfrm>
            <a:off x="457200" y="5217116"/>
            <a:ext cx="77326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CMSS10"/>
              </a:rPr>
              <a:t>												     transformed </a:t>
            </a:r>
            <a:r>
              <a:rPr lang="en-US" sz="2000" dirty="0">
                <a:solidFill>
                  <a:srgbClr val="000000"/>
                </a:solidFill>
                <a:latin typeface="CMSS10"/>
              </a:rPr>
              <a:t>sports (seen </a:t>
            </a:r>
            <a:r>
              <a:rPr lang="en-US" sz="2000" dirty="0" err="1">
                <a:solidFill>
                  <a:srgbClr val="000000"/>
                </a:solidFill>
                <a:latin typeface="CMSS10"/>
              </a:rPr>
              <a:t>MoneyBall</a:t>
            </a:r>
            <a:r>
              <a:rPr lang="en-US" sz="2000" dirty="0">
                <a:solidFill>
                  <a:srgbClr val="000000"/>
                </a:solidFill>
                <a:latin typeface="CMSS10"/>
              </a:rPr>
              <a:t>?);</a:t>
            </a:r>
            <a:endParaRPr lang="en-US" sz="2000" dirty="0"/>
          </a:p>
        </p:txBody>
      </p:sp>
      <p:sp>
        <p:nvSpPr>
          <p:cNvPr id="19" name="Rectangle 18"/>
          <p:cNvSpPr/>
          <p:nvPr/>
        </p:nvSpPr>
        <p:spPr>
          <a:xfrm>
            <a:off x="457201" y="5518419"/>
            <a:ext cx="773264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000000"/>
                </a:solidFill>
                <a:latin typeface="CMSS10"/>
              </a:rPr>
              <a:t>						   set </a:t>
            </a:r>
            <a:r>
              <a:rPr lang="en-US" sz="2000" dirty="0">
                <a:solidFill>
                  <a:srgbClr val="000000"/>
                </a:solidFill>
                <a:latin typeface="CMSS10"/>
              </a:rPr>
              <a:t>standards for evaluating public policy</a:t>
            </a:r>
            <a:r>
              <a:rPr lang="en-US" sz="2000" dirty="0" smtClean="0">
                <a:solidFill>
                  <a:srgbClr val="000000"/>
                </a:solidFill>
                <a:latin typeface="CMSS10"/>
              </a:rPr>
              <a:t>;</a:t>
            </a:r>
            <a:endParaRPr lang="en-US" sz="2000" dirty="0"/>
          </a:p>
        </p:txBody>
      </p:sp>
      <p:sp>
        <p:nvSpPr>
          <p:cNvPr id="20" name="Rectangle 19"/>
          <p:cNvSpPr/>
          <p:nvPr/>
        </p:nvSpPr>
        <p:spPr>
          <a:xfrm>
            <a:off x="1194266" y="5824656"/>
            <a:ext cx="6671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MSS10"/>
              </a:rPr>
              <a:t>etc.;</a:t>
            </a:r>
            <a:endParaRPr lang="en-US" sz="2000" dirty="0"/>
          </a:p>
        </p:txBody>
      </p:sp>
      <p:sp>
        <p:nvSpPr>
          <p:cNvPr id="21" name="Rectangle 20"/>
          <p:cNvSpPr/>
          <p:nvPr/>
        </p:nvSpPr>
        <p:spPr>
          <a:xfrm>
            <a:off x="1712944" y="5824656"/>
            <a:ext cx="7377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MSS10"/>
              </a:rPr>
              <a:t>etc., </a:t>
            </a:r>
            <a:endParaRPr lang="en-US" sz="2000" dirty="0"/>
          </a:p>
        </p:txBody>
      </p:sp>
      <p:sp>
        <p:nvSpPr>
          <p:cNvPr id="22" name="Rectangle 21"/>
          <p:cNvSpPr/>
          <p:nvPr/>
        </p:nvSpPr>
        <p:spPr>
          <a:xfrm>
            <a:off x="2210479" y="5824656"/>
            <a:ext cx="5966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MSS10"/>
              </a:rPr>
              <a:t>etc.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3929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Caus</a:t>
            </a:r>
            <a:r>
              <a:rPr lang="en-US" dirty="0" smtClean="0"/>
              <a:t>e of the </a:t>
            </a:r>
            <a:r>
              <a:rPr lang="en-US" dirty="0" smtClean="0"/>
              <a:t>Success: The Changing Evidence 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77774"/>
            <a:ext cx="8229600" cy="514838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CMSS10"/>
              </a:rPr>
              <a:t>The Last 50 Years:</a:t>
            </a:r>
          </a:p>
          <a:p>
            <a:pPr>
              <a:buFont typeface="Courier New" pitchFamily="49" charset="0"/>
              <a:buChar char="o"/>
            </a:pPr>
            <a:r>
              <a:rPr lang="en-US" dirty="0">
                <a:solidFill>
                  <a:srgbClr val="000000"/>
                </a:solidFill>
                <a:latin typeface="CMSS10"/>
              </a:rPr>
              <a:t>Survey research</a:t>
            </a:r>
          </a:p>
          <a:p>
            <a:pPr>
              <a:buFont typeface="Courier New" pitchFamily="49" charset="0"/>
              <a:buChar char="o"/>
            </a:pPr>
            <a:r>
              <a:rPr lang="en-US" dirty="0">
                <a:solidFill>
                  <a:srgbClr val="000000"/>
                </a:solidFill>
                <a:latin typeface="CMSS10"/>
              </a:rPr>
              <a:t>Aggregate government statistics</a:t>
            </a:r>
          </a:p>
          <a:p>
            <a:pPr>
              <a:buFont typeface="Courier New" pitchFamily="49" charset="0"/>
              <a:buChar char="o"/>
            </a:pPr>
            <a:r>
              <a:rPr lang="en-US" dirty="0">
                <a:solidFill>
                  <a:srgbClr val="000000"/>
                </a:solidFill>
                <a:latin typeface="CMSS10"/>
              </a:rPr>
              <a:t>In depth studies of individual places, people, or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events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CMSS1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CMSS10"/>
              </a:rPr>
              <a:t>The Next 50 Years: Spectacular increases in new data sources, due to. . .</a:t>
            </a:r>
          </a:p>
          <a:p>
            <a:pPr>
              <a:buFont typeface="Courier New" pitchFamily="49" charset="0"/>
              <a:buChar char="o"/>
            </a:pPr>
            <a:r>
              <a:rPr lang="en-US" dirty="0">
                <a:solidFill>
                  <a:srgbClr val="000000"/>
                </a:solidFill>
                <a:latin typeface="CMSS10"/>
              </a:rPr>
              <a:t>More of the above — improved, expanded, and applied</a:t>
            </a:r>
          </a:p>
          <a:p>
            <a:pPr>
              <a:buFont typeface="Courier New" pitchFamily="49" charset="0"/>
              <a:buChar char="o"/>
            </a:pPr>
            <a:r>
              <a:rPr lang="en-US" dirty="0">
                <a:solidFill>
                  <a:srgbClr val="000000"/>
                </a:solidFill>
                <a:latin typeface="CMSS10"/>
              </a:rPr>
              <a:t>Shrinking computers &amp; the growing Internet</a:t>
            </a:r>
          </a:p>
          <a:p>
            <a:pPr>
              <a:buFont typeface="Courier New" pitchFamily="49" charset="0"/>
              <a:buChar char="o"/>
            </a:pPr>
            <a:r>
              <a:rPr lang="en-US" dirty="0">
                <a:solidFill>
                  <a:srgbClr val="000000"/>
                </a:solidFill>
                <a:latin typeface="CMSS10"/>
              </a:rPr>
              <a:t>The march of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quantification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: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through academia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,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the professions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, government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, &amp; commerce</a:t>
            </a:r>
          </a:p>
          <a:p>
            <a:pPr>
              <a:buFont typeface="Courier New" pitchFamily="49" charset="0"/>
              <a:buChar char="o"/>
            </a:pPr>
            <a:r>
              <a:rPr lang="en-US" dirty="0">
                <a:solidFill>
                  <a:srgbClr val="000000"/>
                </a:solidFill>
                <a:latin typeface="CMSS10"/>
              </a:rPr>
              <a:t>The replication movement: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academic 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data sharing (e.g., </a:t>
            </a:r>
            <a:r>
              <a:rPr lang="en-US" dirty="0" err="1">
                <a:solidFill>
                  <a:srgbClr val="000000"/>
                </a:solidFill>
                <a:latin typeface="CMSS10"/>
              </a:rPr>
              <a:t>Dataverse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)</a:t>
            </a:r>
          </a:p>
          <a:p>
            <a:pPr>
              <a:buFont typeface="Courier New" pitchFamily="49" charset="0"/>
              <a:buChar char="o"/>
            </a:pPr>
            <a:r>
              <a:rPr lang="en-US" dirty="0">
                <a:solidFill>
                  <a:srgbClr val="000000"/>
                </a:solidFill>
                <a:latin typeface="CMSS10"/>
              </a:rPr>
              <a:t>Governments encouraging data collection &amp; experimentation</a:t>
            </a:r>
          </a:p>
          <a:p>
            <a:pPr>
              <a:buFont typeface="Courier New" pitchFamily="49" charset="0"/>
              <a:buChar char="o"/>
            </a:pPr>
            <a:r>
              <a:rPr lang="en-US" dirty="0">
                <a:solidFill>
                  <a:srgbClr val="000000"/>
                </a:solidFill>
                <a:latin typeface="CMSS10"/>
              </a:rPr>
              <a:t>Biological sciences</a:t>
            </a:r>
            <a:r>
              <a:rPr lang="en-US" i="1" dirty="0">
                <a:solidFill>
                  <a:srgbClr val="000000"/>
                </a:solidFill>
                <a:latin typeface="CMSS10"/>
              </a:rPr>
              <a:t> becoming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 social sciences</a:t>
            </a:r>
          </a:p>
          <a:p>
            <a:pPr>
              <a:buFont typeface="Courier New" pitchFamily="49" charset="0"/>
              <a:buChar char="o"/>
            </a:pPr>
            <a:r>
              <a:rPr lang="en-US" dirty="0" smtClean="0">
                <a:solidFill>
                  <a:srgbClr val="000000"/>
                </a:solidFill>
                <a:latin typeface="CMSS10"/>
              </a:rPr>
              <a:t>Breathtaking a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dvances 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in statistical methods, informatics, &amp; software</a:t>
            </a:r>
          </a:p>
          <a:p>
            <a:pPr>
              <a:buFont typeface="Courier New" pitchFamily="49" charset="0"/>
              <a:buChar char="o"/>
            </a:pPr>
            <a:r>
              <a:rPr lang="en-US" dirty="0" smtClean="0">
                <a:solidFill>
                  <a:srgbClr val="000000"/>
                </a:solidFill>
                <a:latin typeface="CMSS10"/>
              </a:rPr>
              <a:t>End 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of the Quantitative-Qualitative divide: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Diverse perspectives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but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, with text, video, field notes etc. as data,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we now 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all benefit from the same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technologies</a:t>
            </a:r>
          </a:p>
          <a:p>
            <a:pPr>
              <a:buFont typeface="Courier New" pitchFamily="49" charset="0"/>
              <a:buChar char="o"/>
            </a:pPr>
            <a:endParaRPr lang="en-US" dirty="0" smtClean="0">
              <a:solidFill>
                <a:srgbClr val="000000"/>
              </a:solidFill>
              <a:latin typeface="CMSS1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/>
                <a:cs typeface="Times New Roman"/>
              </a:rPr>
              <a:t>→ </a:t>
            </a:r>
            <a:r>
              <a:rPr lang="en-US" dirty="0" smtClean="0">
                <a:solidFill>
                  <a:srgbClr val="FF0000"/>
                </a:solidFill>
                <a:latin typeface="CMSS10"/>
              </a:rPr>
              <a:t>Change from studying problems to understanding and solving them</a:t>
            </a:r>
            <a:endParaRPr lang="en-US" dirty="0">
              <a:solidFill>
                <a:srgbClr val="FF0000"/>
              </a:solidFill>
              <a:latin typeface="CMSS10"/>
            </a:endParaRPr>
          </a:p>
          <a:p>
            <a:pPr>
              <a:buFont typeface="Courier New" pitchFamily="49" charset="0"/>
              <a:buChar char="o"/>
            </a:pPr>
            <a:r>
              <a:rPr lang="en-US" sz="800" dirty="0">
                <a:solidFill>
                  <a:srgbClr val="FFFFFF"/>
                </a:solidFill>
                <a:latin typeface="CMSS8"/>
              </a:rPr>
              <a:t>Gary King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805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CMSS12"/>
              </a:rPr>
              <a:t>Examples of what’s now possible with QSS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4912"/>
            <a:ext cx="8229600" cy="5171252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rgbClr val="FF0000"/>
                </a:solidFill>
                <a:latin typeface="CMSS10"/>
              </a:rPr>
              <a:t>Opinions of activists: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2000 interviews </a:t>
            </a:r>
            <a:r>
              <a:rPr lang="en-US" dirty="0" smtClean="0">
                <a:solidFill>
                  <a:srgbClr val="000000"/>
                </a:solidFill>
                <a:latin typeface="Times New Roman"/>
                <a:cs typeface="Times New Roman"/>
              </a:rPr>
              <a:t>→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 billions of opinions 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in social media posts (1B every 2.5Days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)</a:t>
            </a:r>
            <a:endParaRPr lang="en-US" dirty="0">
              <a:solidFill>
                <a:srgbClr val="000000"/>
              </a:solidFill>
              <a:latin typeface="CMSS10"/>
            </a:endParaRPr>
          </a:p>
          <a:p>
            <a:r>
              <a:rPr lang="en-US" dirty="0">
                <a:solidFill>
                  <a:srgbClr val="FF0000"/>
                </a:solidFill>
                <a:latin typeface="CMSS10"/>
              </a:rPr>
              <a:t>Exercise: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“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How many times did you exercise last week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?” </a:t>
            </a:r>
            <a:r>
              <a:rPr lang="en-US" dirty="0">
                <a:solidFill>
                  <a:srgbClr val="000000"/>
                </a:solidFill>
                <a:latin typeface="Times New Roman"/>
                <a:cs typeface="Times New Roman"/>
              </a:rPr>
              <a:t>→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500K 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people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with 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cell phones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accelerometers</a:t>
            </a:r>
            <a:endParaRPr lang="en-US" dirty="0">
              <a:solidFill>
                <a:srgbClr val="000000"/>
              </a:solidFill>
              <a:latin typeface="CMSS10"/>
            </a:endParaRPr>
          </a:p>
          <a:p>
            <a:r>
              <a:rPr lang="en-US" dirty="0">
                <a:solidFill>
                  <a:srgbClr val="FF0000"/>
                </a:solidFill>
                <a:latin typeface="CMSS10"/>
              </a:rPr>
              <a:t>Social contacts: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“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Please tell me your 5 best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friends” </a:t>
            </a:r>
            <a:r>
              <a:rPr lang="en-US" dirty="0">
                <a:solidFill>
                  <a:srgbClr val="000000"/>
                </a:solidFill>
                <a:latin typeface="Times New Roman"/>
                <a:cs typeface="Times New Roman"/>
              </a:rPr>
              <a:t>→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all phone 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calls, emails, text messages,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Bluetooth, social 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media connections, electronic address books</a:t>
            </a:r>
          </a:p>
          <a:p>
            <a:r>
              <a:rPr lang="en-US" dirty="0">
                <a:solidFill>
                  <a:srgbClr val="FF0000"/>
                </a:solidFill>
                <a:latin typeface="CMSS10"/>
              </a:rPr>
              <a:t>Economic development in developing countries: 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Dubious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or nonexistent 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governmental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statistics </a:t>
            </a:r>
            <a:r>
              <a:rPr lang="en-US" dirty="0" smtClean="0">
                <a:solidFill>
                  <a:srgbClr val="000000"/>
                </a:solidFill>
                <a:latin typeface="Times New Roman"/>
                <a:cs typeface="Times New Roman"/>
              </a:rPr>
              <a:t>→</a:t>
            </a:r>
            <a:r>
              <a:rPr lang="en-US" dirty="0" smtClean="0">
                <a:solidFill>
                  <a:srgbClr val="FF0000"/>
                </a:solidFill>
                <a:latin typeface="MSAM10"/>
              </a:rPr>
              <a:t> 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satellite images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of human-generated 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light at night, or networks of roads and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other infrastructure</a:t>
            </a:r>
            <a:endParaRPr lang="en-US" dirty="0">
              <a:solidFill>
                <a:srgbClr val="000000"/>
              </a:solidFill>
              <a:latin typeface="CMSS10"/>
            </a:endParaRPr>
          </a:p>
          <a:p>
            <a:r>
              <a:rPr lang="en-US" dirty="0">
                <a:solidFill>
                  <a:srgbClr val="FF0000"/>
                </a:solidFill>
                <a:latin typeface="CMSS10"/>
              </a:rPr>
              <a:t>Expert-</a:t>
            </a:r>
            <a:r>
              <a:rPr lang="en-US" dirty="0" err="1">
                <a:solidFill>
                  <a:srgbClr val="FF0000"/>
                </a:solidFill>
                <a:latin typeface="CMSS10"/>
              </a:rPr>
              <a:t>vs</a:t>
            </a:r>
            <a:r>
              <a:rPr lang="en-US" dirty="0">
                <a:solidFill>
                  <a:srgbClr val="FF0000"/>
                </a:solidFill>
                <a:latin typeface="CMSS10"/>
              </a:rPr>
              <a:t>-Statistician contests: 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Whenever enough information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is quantified 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(&amp; a right answer exists),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quantitative social science wins</a:t>
            </a:r>
            <a:endParaRPr lang="en-US" dirty="0">
              <a:solidFill>
                <a:srgbClr val="000000"/>
              </a:solidFill>
              <a:latin typeface="CMSS10"/>
            </a:endParaRPr>
          </a:p>
          <a:p>
            <a:r>
              <a:rPr lang="en-US" dirty="0">
                <a:solidFill>
                  <a:srgbClr val="000000"/>
                </a:solidFill>
                <a:latin typeface="CMSS10"/>
              </a:rPr>
              <a:t>Many, </a:t>
            </a:r>
            <a:r>
              <a:rPr lang="en-US" dirty="0">
                <a:solidFill>
                  <a:srgbClr val="0000FF"/>
                </a:solidFill>
                <a:latin typeface="CMSSBX10"/>
              </a:rPr>
              <a:t>m</a:t>
            </a:r>
            <a:r>
              <a:rPr lang="en-US" dirty="0">
                <a:solidFill>
                  <a:srgbClr val="FF8000"/>
                </a:solidFill>
                <a:latin typeface="CMSSBX10"/>
              </a:rPr>
              <a:t>a</a:t>
            </a:r>
            <a:r>
              <a:rPr lang="en-US" dirty="0">
                <a:solidFill>
                  <a:srgbClr val="00FF00"/>
                </a:solidFill>
                <a:latin typeface="CMSSBX10"/>
              </a:rPr>
              <a:t>n</a:t>
            </a:r>
            <a:r>
              <a:rPr lang="en-US" dirty="0">
                <a:solidFill>
                  <a:srgbClr val="FF0000"/>
                </a:solidFill>
                <a:latin typeface="CMSSBX10"/>
              </a:rPr>
              <a:t>y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, more. . 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83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Building Big Social Science: The Economics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CMSS10"/>
              </a:rPr>
              <a:t>Need to move the social sciences: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MSS10"/>
              </a:rPr>
              <a:t>Humanities (on your own) </a:t>
            </a:r>
            <a:r>
              <a:rPr lang="en-US" dirty="0">
                <a:solidFill>
                  <a:srgbClr val="000000"/>
                </a:solidFill>
                <a:latin typeface="Times New Roman"/>
                <a:cs typeface="Times New Roman"/>
              </a:rPr>
              <a:t>→ 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sciences (lab-style)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MSS10"/>
              </a:rPr>
              <a:t>Large 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scale,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interdisciplinary,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collaborative work</a:t>
            </a:r>
            <a:endParaRPr lang="en-US" dirty="0">
              <a:solidFill>
                <a:srgbClr val="000000"/>
              </a:solidFill>
              <a:latin typeface="CMSS10"/>
            </a:endParaRPr>
          </a:p>
          <a:p>
            <a:r>
              <a:rPr lang="en-US" dirty="0">
                <a:solidFill>
                  <a:srgbClr val="FF0000"/>
                </a:solidFill>
                <a:latin typeface="CMSS10"/>
              </a:rPr>
              <a:t>The </a:t>
            </a:r>
            <a:r>
              <a:rPr lang="en-US" dirty="0" smtClean="0">
                <a:solidFill>
                  <a:srgbClr val="FF0000"/>
                </a:solidFill>
                <a:latin typeface="CMSS10"/>
              </a:rPr>
              <a:t>science model:</a:t>
            </a:r>
            <a:r>
              <a:rPr lang="en-US" dirty="0" smtClean="0">
                <a:latin typeface="CMSS10"/>
              </a:rPr>
              <a:t> </a:t>
            </a:r>
          </a:p>
          <a:p>
            <a:pPr marL="457200" lvl="1" indent="0">
              <a:buNone/>
            </a:pPr>
            <a:r>
              <a:rPr lang="en-US" dirty="0" smtClean="0">
                <a:latin typeface="CMSS10"/>
              </a:rPr>
              <a:t>Hires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 </a:t>
            </a:r>
            <a:r>
              <a:rPr lang="en-US" dirty="0">
                <a:latin typeface="CMSS10"/>
              </a:rPr>
              <a:t>get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: </a:t>
            </a:r>
            <a:r>
              <a:rPr lang="en-US" dirty="0" smtClean="0">
                <a:solidFill>
                  <a:srgbClr val="000000"/>
                </a:solidFill>
                <a:latin typeface="CMMI10"/>
              </a:rPr>
              <a:t>&gt;</a:t>
            </a:r>
            <a:r>
              <a:rPr lang="en-US" dirty="0" smtClean="0">
                <a:solidFill>
                  <a:srgbClr val="000000"/>
                </a:solidFill>
                <a:latin typeface="F43"/>
              </a:rPr>
              <a:t>$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2M in 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start up costs,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10 employees, 3500sf of 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lab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space.  </a:t>
            </a:r>
          </a:p>
          <a:p>
            <a:pPr marL="457200" lvl="1" indent="0">
              <a:buNone/>
            </a:pPr>
            <a:endParaRPr lang="en-US" dirty="0">
              <a:solidFill>
                <a:srgbClr val="000000"/>
              </a:solidFill>
              <a:latin typeface="CMSS10"/>
            </a:endParaRPr>
          </a:p>
          <a:p>
            <a:r>
              <a:rPr lang="en-US" dirty="0">
                <a:solidFill>
                  <a:srgbClr val="FF0000"/>
                </a:solidFill>
                <a:latin typeface="CMSS10"/>
              </a:rPr>
              <a:t>A new </a:t>
            </a:r>
            <a:r>
              <a:rPr lang="en-US" dirty="0" smtClean="0">
                <a:solidFill>
                  <a:srgbClr val="FF0000"/>
                </a:solidFill>
                <a:latin typeface="CMSS10"/>
              </a:rPr>
              <a:t>model for the social sciences: </a:t>
            </a:r>
            <a:endParaRPr lang="en-US" dirty="0">
              <a:solidFill>
                <a:srgbClr val="000000"/>
              </a:solidFill>
              <a:latin typeface="CMSS10"/>
            </a:endParaRPr>
          </a:p>
          <a:p>
            <a:pPr marL="457200" lvl="1" indent="0">
              <a:buNone/>
            </a:pPr>
            <a:r>
              <a:rPr lang="en-US" dirty="0" smtClean="0">
                <a:solidFill>
                  <a:srgbClr val="000000"/>
                </a:solidFill>
                <a:latin typeface="CMSS10"/>
              </a:rPr>
              <a:t>Greatly enhanced, shared, 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common infrastructure</a:t>
            </a:r>
          </a:p>
          <a:p>
            <a:r>
              <a:rPr lang="en-US" sz="800" dirty="0">
                <a:solidFill>
                  <a:srgbClr val="FFFFFF"/>
                </a:solidFill>
                <a:latin typeface="CMSS8"/>
              </a:rPr>
              <a:t>Gary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832459" y="3792975"/>
            <a:ext cx="7431375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 smtClean="0">
                <a:solidFill>
                  <a:srgbClr val="000000"/>
                </a:solidFill>
                <a:latin typeface="CMSS10"/>
              </a:rPr>
              <a:t>						   (</a:t>
            </a:r>
            <a:r>
              <a:rPr lang="en-US" sz="2600" dirty="0">
                <a:solidFill>
                  <a:srgbClr val="FF0000"/>
                </a:solidFill>
                <a:latin typeface="CMSS10"/>
              </a:rPr>
              <a:t>Not an option! </a:t>
            </a:r>
            <a:r>
              <a:rPr lang="en-US" sz="2600" dirty="0">
                <a:solidFill>
                  <a:srgbClr val="000000"/>
                </a:solidFill>
                <a:latin typeface="CMSS10"/>
              </a:rPr>
              <a:t>but not needed either)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354746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FFFF"/>
                </a:solidFill>
                <a:latin typeface="CMSS12"/>
              </a:rPr>
              <a:t>Building Big Social Science: The Politics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7486"/>
            <a:ext cx="8229600" cy="4858678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rgbClr val="000000"/>
                </a:solidFill>
                <a:latin typeface="CMSS10"/>
              </a:rPr>
              <a:t>Common aspect of all great centers: </a:t>
            </a:r>
            <a:r>
              <a:rPr lang="en-US" dirty="0" smtClean="0">
                <a:solidFill>
                  <a:srgbClr val="FF0000"/>
                </a:solidFill>
                <a:latin typeface="CMSS10"/>
              </a:rPr>
              <a:t>community</a:t>
            </a:r>
            <a:endParaRPr lang="en-US" dirty="0" smtClean="0">
              <a:latin typeface="CMSS10"/>
            </a:endParaRPr>
          </a:p>
          <a:p>
            <a:r>
              <a:rPr lang="en-US" dirty="0" smtClean="0">
                <a:solidFill>
                  <a:srgbClr val="FF0000"/>
                </a:solidFill>
                <a:latin typeface="CMSS10"/>
              </a:rPr>
              <a:t>Appeal to rational self-interest</a:t>
            </a:r>
            <a:r>
              <a:rPr lang="en-US" dirty="0" smtClean="0">
                <a:latin typeface="CMSS10"/>
              </a:rPr>
              <a:t>; when paths cross, community forms</a:t>
            </a:r>
          </a:p>
          <a:p>
            <a:r>
              <a:rPr lang="en-US" dirty="0" smtClean="0">
                <a:latin typeface="CMSS10"/>
              </a:rPr>
              <a:t>Emphasize the whole range from </a:t>
            </a:r>
            <a:r>
              <a:rPr lang="en-US" dirty="0" smtClean="0">
                <a:solidFill>
                  <a:srgbClr val="FF0000"/>
                </a:solidFill>
                <a:latin typeface="CMSS10"/>
              </a:rPr>
              <a:t>academic to plumbing</a:t>
            </a:r>
          </a:p>
          <a:p>
            <a:r>
              <a:rPr lang="en-US" dirty="0" smtClean="0">
                <a:solidFill>
                  <a:srgbClr val="FF0000"/>
                </a:solidFill>
                <a:latin typeface="CMSS10"/>
              </a:rPr>
              <a:t>Be university-wide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(many social 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scientists outside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FAS)</a:t>
            </a:r>
            <a:endParaRPr lang="en-US" dirty="0">
              <a:solidFill>
                <a:srgbClr val="000000"/>
              </a:solidFill>
              <a:latin typeface="CMSS10"/>
            </a:endParaRPr>
          </a:p>
          <a:p>
            <a:r>
              <a:rPr lang="en-US" dirty="0">
                <a:solidFill>
                  <a:srgbClr val="FF0000"/>
                </a:solidFill>
                <a:latin typeface="CMSS10"/>
              </a:rPr>
              <a:t>Cooperate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 with other university units, even if initially costly</a:t>
            </a:r>
          </a:p>
          <a:p>
            <a:r>
              <a:rPr lang="en-US" dirty="0">
                <a:solidFill>
                  <a:srgbClr val="000000"/>
                </a:solidFill>
                <a:latin typeface="CMSS10"/>
              </a:rPr>
              <a:t>P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reach 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and practice: </a:t>
            </a:r>
            <a:r>
              <a:rPr lang="en-US" dirty="0">
                <a:solidFill>
                  <a:srgbClr val="FF0000"/>
                </a:solidFill>
                <a:latin typeface="CMSS10"/>
              </a:rPr>
              <a:t>influence </a:t>
            </a:r>
            <a:r>
              <a:rPr lang="en-US" dirty="0" smtClean="0">
                <a:solidFill>
                  <a:srgbClr val="FF0000"/>
                </a:solidFill>
                <a:latin typeface="CMSS10"/>
              </a:rPr>
              <a:t>is more important than </a:t>
            </a:r>
            <a:r>
              <a:rPr lang="en-US" dirty="0" smtClean="0">
                <a:solidFill>
                  <a:srgbClr val="FF0000"/>
                </a:solidFill>
                <a:latin typeface="CMSS10"/>
              </a:rPr>
              <a:t>control</a:t>
            </a:r>
            <a:endParaRPr lang="en-US" dirty="0">
              <a:solidFill>
                <a:srgbClr val="FF0000"/>
              </a:solidFill>
              <a:latin typeface="CMSS10"/>
            </a:endParaRPr>
          </a:p>
          <a:p>
            <a:r>
              <a:rPr lang="en-US" dirty="0">
                <a:solidFill>
                  <a:srgbClr val="000000"/>
                </a:solidFill>
                <a:latin typeface="CMSS10"/>
              </a:rPr>
              <a:t>G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ive offense if you want, but </a:t>
            </a:r>
            <a:r>
              <a:rPr lang="en-US" dirty="0">
                <a:solidFill>
                  <a:srgbClr val="FF0000"/>
                </a:solidFill>
                <a:latin typeface="CMSS10"/>
              </a:rPr>
              <a:t>never take offense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 (it’s not about you)</a:t>
            </a:r>
          </a:p>
          <a:p>
            <a:r>
              <a:rPr lang="en-US" dirty="0" smtClean="0">
                <a:solidFill>
                  <a:srgbClr val="000000"/>
                </a:solidFill>
                <a:latin typeface="CMSS10"/>
              </a:rPr>
              <a:t>Focus 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on </a:t>
            </a:r>
            <a:r>
              <a:rPr lang="en-US" dirty="0">
                <a:solidFill>
                  <a:srgbClr val="FF0000"/>
                </a:solidFill>
                <a:latin typeface="CMSS10"/>
              </a:rPr>
              <a:t>infrastructure that scales</a:t>
            </a:r>
          </a:p>
          <a:p>
            <a:r>
              <a:rPr lang="en-US" dirty="0" smtClean="0">
                <a:solidFill>
                  <a:srgbClr val="FF0000"/>
                </a:solidFill>
                <a:latin typeface="CMSS10"/>
              </a:rPr>
              <a:t>Become </a:t>
            </a:r>
            <a:r>
              <a:rPr lang="en-US" dirty="0">
                <a:solidFill>
                  <a:srgbClr val="FF0000"/>
                </a:solidFill>
                <a:latin typeface="CMSS10"/>
              </a:rPr>
              <a:t>an integral part of </a:t>
            </a:r>
            <a:r>
              <a:rPr lang="en-US" dirty="0" smtClean="0">
                <a:solidFill>
                  <a:srgbClr val="FF0000"/>
                </a:solidFill>
                <a:latin typeface="CMSS10"/>
              </a:rPr>
              <a:t>university administration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(turn administrative units into quasi-research social science projects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, automate them,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and harvest the extra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revenue)</a:t>
            </a:r>
            <a:endParaRPr lang="en-US" dirty="0">
              <a:solidFill>
                <a:srgbClr val="000000"/>
              </a:solidFill>
              <a:latin typeface="CMSS10"/>
            </a:endParaRPr>
          </a:p>
          <a:p>
            <a:r>
              <a:rPr lang="en-US" dirty="0" smtClean="0">
                <a:solidFill>
                  <a:srgbClr val="FF0000"/>
                </a:solidFill>
                <a:latin typeface="CMSS10"/>
              </a:rPr>
              <a:t>Acquire existing </a:t>
            </a:r>
            <a:r>
              <a:rPr lang="en-US" dirty="0" smtClean="0">
                <a:solidFill>
                  <a:srgbClr val="FF0000"/>
                </a:solidFill>
                <a:latin typeface="CMSS10"/>
              </a:rPr>
              <a:t>units; </a:t>
            </a:r>
            <a:r>
              <a:rPr lang="en-US" dirty="0" smtClean="0">
                <a:latin typeface="CMSS10"/>
              </a:rPr>
              <a:t>don’t expect </a:t>
            </a:r>
            <a:r>
              <a:rPr lang="en-US" dirty="0" smtClean="0">
                <a:solidFill>
                  <a:srgbClr val="000000"/>
                </a:solidFill>
                <a:latin typeface="CMSS10"/>
              </a:rPr>
              <a:t>the </a:t>
            </a:r>
            <a:r>
              <a:rPr lang="en-US" dirty="0">
                <a:solidFill>
                  <a:srgbClr val="000000"/>
                </a:solidFill>
                <a:latin typeface="CMSS10"/>
              </a:rPr>
              <a:t>administration to pay for it all from scratch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1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Need Bigger, Faster </a:t>
            </a:r>
            <a:r>
              <a:rPr lang="en-US" dirty="0" smtClean="0"/>
              <a:t>Computers than you can afford?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283447"/>
            <a:ext cx="8229600" cy="4525963"/>
          </a:xfrm>
        </p:spPr>
        <p:txBody>
          <a:bodyPr>
            <a:normAutofit/>
          </a:bodyPr>
          <a:lstStyle/>
          <a:p>
            <a:pPr marL="0" indent="0">
              <a:buClr>
                <a:schemeClr val="accent6"/>
              </a:buClr>
              <a:buNone/>
            </a:pPr>
            <a:r>
              <a:rPr lang="en-US" dirty="0" smtClean="0"/>
              <a:t>IQSS Research </a:t>
            </a:r>
            <a:r>
              <a:rPr lang="en-US" dirty="0"/>
              <a:t>Computing Environment (RCE</a:t>
            </a:r>
            <a:r>
              <a:rPr lang="en-US" dirty="0" smtClean="0"/>
              <a:t>):</a:t>
            </a:r>
            <a:endParaRPr lang="en-US" dirty="0"/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 smtClean="0"/>
              <a:t>&gt; </a:t>
            </a:r>
            <a:r>
              <a:rPr lang="en-US" dirty="0" smtClean="0"/>
              <a:t>1500 </a:t>
            </a:r>
            <a:r>
              <a:rPr lang="en-US" dirty="0" smtClean="0"/>
              <a:t>shared computing cores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 smtClean="0"/>
              <a:t>Numerous active </a:t>
            </a:r>
            <a:r>
              <a:rPr lang="en-US" dirty="0" smtClean="0"/>
              <a:t>users 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 smtClean="0"/>
              <a:t>A persistent environment, sign on from anywhere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 smtClean="0"/>
              <a:t>Growing via collaborative research project to extend platform to the Amazon </a:t>
            </a:r>
            <a:r>
              <a:rPr lang="en-US" dirty="0" smtClean="0"/>
              <a:t>cloud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 smtClean="0"/>
              <a:t>Making into open source software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7</a:t>
            </a:fld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Consulting and Training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>
                <a:solidFill>
                  <a:srgbClr val="FF0000"/>
                </a:solidFill>
              </a:rPr>
              <a:t>Short courses: </a:t>
            </a:r>
            <a:r>
              <a:rPr lang="en-US" dirty="0" smtClean="0"/>
              <a:t>R, </a:t>
            </a:r>
            <a:r>
              <a:rPr lang="en-US" dirty="0" err="1" smtClean="0"/>
              <a:t>Zelig</a:t>
            </a:r>
            <a:r>
              <a:rPr lang="en-US" dirty="0" smtClean="0"/>
              <a:t>, </a:t>
            </a:r>
            <a:r>
              <a:rPr lang="en-US" dirty="0" err="1" smtClean="0"/>
              <a:t>Stata</a:t>
            </a:r>
            <a:r>
              <a:rPr lang="en-US" dirty="0" smtClean="0"/>
              <a:t>, SAS, Numeric Data Resources, </a:t>
            </a:r>
            <a:r>
              <a:rPr lang="en-US" dirty="0" err="1" smtClean="0"/>
              <a:t>Atlas.ti</a:t>
            </a:r>
            <a:r>
              <a:rPr lang="en-US" dirty="0" smtClean="0"/>
              <a:t>, GIS, &amp; many IQSS technologies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>
                <a:solidFill>
                  <a:srgbClr val="FF0000"/>
                </a:solidFill>
              </a:rPr>
              <a:t>Research consulting:</a:t>
            </a:r>
            <a:r>
              <a:rPr lang="en-US" dirty="0" smtClean="0"/>
              <a:t>  one-on-one help with data management and analysis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>
                <a:solidFill>
                  <a:srgbClr val="FF0000"/>
                </a:solidFill>
              </a:rPr>
              <a:t>Survey Consulting:</a:t>
            </a:r>
            <a:r>
              <a:rPr lang="en-US" dirty="0" smtClean="0"/>
              <a:t> help with question wording, sampling, analysis, nonstandard data collection</a:t>
            </a:r>
          </a:p>
          <a:p>
            <a:pPr>
              <a:buClr>
                <a:schemeClr val="accent6">
                  <a:lumMod val="60000"/>
                  <a:lumOff val="40000"/>
                </a:schemeClr>
              </a:buClr>
              <a:buFont typeface="Wingdings" pitchFamily="2" charset="2"/>
              <a:buChar char="§"/>
            </a:pPr>
            <a:endParaRPr lang="en-US" dirty="0" smtClean="0"/>
          </a:p>
          <a:p>
            <a:pPr>
              <a:buClr>
                <a:schemeClr val="accent6">
                  <a:lumMod val="60000"/>
                  <a:lumOff val="40000"/>
                </a:schemeClr>
              </a:buClr>
              <a:buFont typeface="Wingdings" pitchFamily="2" charset="2"/>
              <a:buChar char="§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8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err="1" smtClean="0"/>
              <a:t>OpenScholar</a:t>
            </a:r>
            <a:r>
              <a:rPr lang="en-US" dirty="0" smtClean="0"/>
              <a:t>: Faculty &amp; Student Web sites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 descr="Picture 1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7024" y="862852"/>
            <a:ext cx="5671150" cy="5284592"/>
          </a:xfrm>
          <a:prstGeom prst="rect">
            <a:avLst/>
          </a:prstGeom>
          <a:effectLst>
            <a:outerShdw blurRad="50800" dist="38100" dir="2700000">
              <a:srgbClr val="000000">
                <a:alpha val="43000"/>
              </a:srgbClr>
            </a:outerShdw>
          </a:effectLst>
        </p:spPr>
      </p:pic>
      <p:sp>
        <p:nvSpPr>
          <p:cNvPr id="5" name="Content Placeholder 4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2904996" y="1735817"/>
            <a:ext cx="6076860" cy="4525963"/>
          </a:xfrm>
          <a:solidFill>
            <a:schemeClr val="bg1"/>
          </a:solidFill>
          <a:ln>
            <a:noFill/>
          </a:ln>
        </p:spPr>
        <p:txBody>
          <a:bodyPr>
            <a:normAutofit/>
          </a:bodyPr>
          <a:lstStyle/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&gt; 1,259 </a:t>
            </a:r>
            <a:r>
              <a:rPr lang="en-US" sz="2800" dirty="0" smtClean="0">
                <a:solidFill>
                  <a:srgbClr val="FF0000"/>
                </a:solidFill>
              </a:rPr>
              <a:t>scholar</a:t>
            </a:r>
            <a:r>
              <a:rPr lang="en-US" sz="2800" dirty="0" smtClean="0"/>
              <a:t> sites (growing fast)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&gt; 295 </a:t>
            </a:r>
            <a:r>
              <a:rPr lang="en-US" sz="2800" dirty="0" smtClean="0">
                <a:solidFill>
                  <a:srgbClr val="FF0000"/>
                </a:solidFill>
              </a:rPr>
              <a:t>project</a:t>
            </a:r>
            <a:r>
              <a:rPr lang="en-US" sz="2800" dirty="0" smtClean="0"/>
              <a:t> sites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Free at openscholar.harvard.edu</a:t>
            </a:r>
          </a:p>
          <a:p>
            <a:pPr marL="457200" lvl="1" indent="0">
              <a:buClr>
                <a:srgbClr val="E37F34"/>
              </a:buClr>
              <a:buNone/>
            </a:pPr>
            <a:r>
              <a:rPr lang="en-US" sz="2000" dirty="0" smtClean="0"/>
              <a:t>($5-20K saved per site)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Installation at &gt; </a:t>
            </a:r>
            <a:r>
              <a:rPr lang="en-US" sz="2800" dirty="0" smtClean="0"/>
              <a:t>100</a:t>
            </a:r>
            <a:r>
              <a:rPr lang="en-US" sz="2800" dirty="0" smtClean="0"/>
              <a:t> </a:t>
            </a:r>
            <a:r>
              <a:rPr lang="en-US" sz="2800" dirty="0" smtClean="0"/>
              <a:t>other Universities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Growing via collaboration (with HUIT and HPAC) to extend </a:t>
            </a:r>
            <a:r>
              <a:rPr lang="en-US" sz="2800" dirty="0" smtClean="0"/>
              <a:t>to </a:t>
            </a:r>
            <a:r>
              <a:rPr lang="en-US" sz="2800" dirty="0" smtClean="0">
                <a:solidFill>
                  <a:srgbClr val="FF0000"/>
                </a:solidFill>
              </a:rPr>
              <a:t>department</a:t>
            </a:r>
            <a:r>
              <a:rPr lang="en-US" sz="2800" dirty="0" smtClean="0"/>
              <a:t> sites</a:t>
            </a:r>
            <a:endParaRPr lang="en-US" sz="28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5" grpId="1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err="1" smtClean="0"/>
              <a:t>Dataverse</a:t>
            </a:r>
            <a:r>
              <a:rPr lang="en-US" dirty="0" smtClean="0"/>
              <a:t> Network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Picture 5" descr="Picture 2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21601" y="849342"/>
            <a:ext cx="5870792" cy="522278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</p:pic>
      <p:sp>
        <p:nvSpPr>
          <p:cNvPr id="5" name="Content Placeholder 4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3053630" y="1585916"/>
            <a:ext cx="6090370" cy="4525963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Your own </a:t>
            </a:r>
            <a:r>
              <a:rPr lang="en-US" sz="2800" dirty="0" smtClean="0">
                <a:solidFill>
                  <a:srgbClr val="FF0000"/>
                </a:solidFill>
              </a:rPr>
              <a:t>easy-to-use virtual archive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Largest collection of social science data in the world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Our installation: ~ 1000 </a:t>
            </a:r>
            <a:r>
              <a:rPr lang="en-US" sz="2800" dirty="0" err="1" smtClean="0"/>
              <a:t>dataverses</a:t>
            </a:r>
            <a:r>
              <a:rPr lang="en-US" sz="2800" dirty="0" smtClean="0"/>
              <a:t>, 51,000 studies, 715,000 files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&gt; </a:t>
            </a:r>
            <a:r>
              <a:rPr lang="en-US" sz="2800" dirty="0" smtClean="0"/>
              <a:t>20</a:t>
            </a:r>
            <a:r>
              <a:rPr lang="en-US" sz="2800" dirty="0" smtClean="0"/>
              <a:t> </a:t>
            </a:r>
            <a:r>
              <a:rPr lang="en-US" sz="2800" dirty="0" smtClean="0"/>
              <a:t>installations in other Universities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Expand </a:t>
            </a:r>
            <a:r>
              <a:rPr lang="en-US" sz="2800" dirty="0" smtClean="0"/>
              <a:t>across humanities, social sciences, &amp; </a:t>
            </a:r>
            <a:r>
              <a:rPr lang="en-US" sz="2800" dirty="0" smtClean="0"/>
              <a:t>sciences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Free, open source</a:t>
            </a:r>
            <a:endParaRPr lang="en-US" sz="2800" dirty="0" smtClean="0"/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endParaRPr lang="en-US" sz="2800" dirty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err="1" smtClean="0"/>
              <a:t>Zelig</a:t>
            </a:r>
            <a:r>
              <a:rPr lang="en-US" dirty="0" smtClean="0"/>
              <a:t>: Everyone’s Statistical Software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fontScale="92500" lnSpcReduction="10000"/>
          </a:bodyPr>
          <a:lstStyle/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/>
              <a:t>Easy, standardized solution to R’s power and diversity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/>
              <a:t>&gt;</a:t>
            </a:r>
            <a:r>
              <a:rPr lang="en-US" dirty="0" smtClean="0"/>
              <a:t>100 </a:t>
            </a:r>
            <a:r>
              <a:rPr lang="en-US" dirty="0" smtClean="0"/>
              <a:t>statistical methods in common format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/>
              <a:t>Hundreds of thousands of users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/>
              <a:t>(Optional GUI through </a:t>
            </a:r>
            <a:r>
              <a:rPr lang="en-US" dirty="0" err="1" smtClean="0"/>
              <a:t>Dataverse</a:t>
            </a:r>
            <a:r>
              <a:rPr lang="en-US" dirty="0" smtClean="0"/>
              <a:t>, no R knowledge required)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/>
              <a:t>Huge </a:t>
            </a:r>
            <a:r>
              <a:rPr lang="en-US" i="1" dirty="0" smtClean="0"/>
              <a:t>local </a:t>
            </a:r>
            <a:r>
              <a:rPr lang="en-US" dirty="0" smtClean="0"/>
              <a:t>and </a:t>
            </a:r>
            <a:r>
              <a:rPr lang="en-US" i="1" dirty="0" smtClean="0"/>
              <a:t>international </a:t>
            </a:r>
            <a:r>
              <a:rPr lang="en-US" dirty="0" smtClean="0"/>
              <a:t>network </a:t>
            </a:r>
            <a:r>
              <a:rPr lang="en-US" dirty="0" smtClean="0"/>
              <a:t>effects: students </a:t>
            </a:r>
            <a:r>
              <a:rPr lang="en-US" dirty="0"/>
              <a:t>learning from each other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/>
              <a:t>Growing via </a:t>
            </a:r>
            <a:r>
              <a:rPr lang="en-US" dirty="0" smtClean="0"/>
              <a:t>open source </a:t>
            </a:r>
            <a:r>
              <a:rPr lang="en-US" dirty="0" smtClean="0"/>
              <a:t>contributions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11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Program on Automated Text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6" y="1853292"/>
            <a:ext cx="8524711" cy="466997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</p:pic>
      <p:sp>
        <p:nvSpPr>
          <p:cNvPr id="5" name="Content Placeholder 4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2710543" y="1551214"/>
            <a:ext cx="6491138" cy="2483212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“Computer-assisted reading”, a new way to organize and make sense of huge amounts of unstructured text.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Some services available now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sz="2800" dirty="0" smtClean="0"/>
              <a:t>New </a:t>
            </a:r>
            <a:r>
              <a:rPr lang="en-US" sz="2800" dirty="0" smtClean="0"/>
              <a:t>(self-serve) approaches </a:t>
            </a:r>
            <a:r>
              <a:rPr lang="en-US" sz="2800" dirty="0"/>
              <a:t>u</a:t>
            </a:r>
            <a:r>
              <a:rPr lang="en-US" sz="2800" dirty="0" smtClean="0"/>
              <a:t>nder development, available soon</a:t>
            </a:r>
            <a:endParaRPr lang="en-US" sz="28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Grants </a:t>
            </a:r>
            <a:r>
              <a:rPr lang="en-US" dirty="0" smtClean="0"/>
              <a:t>Administration (Don’t forget Plumbing!)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/>
              <a:t>Many active grants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/>
              <a:t>Increasing number of proposals submitted annually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/>
              <a:t>Pre- and post-award support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/>
              <a:t>Working closely with department staff</a:t>
            </a:r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r>
              <a:rPr lang="en-US" dirty="0" smtClean="0"/>
              <a:t>Social scientists </a:t>
            </a:r>
            <a:r>
              <a:rPr lang="en-US" i="1" dirty="0" smtClean="0">
                <a:solidFill>
                  <a:srgbClr val="FF0000"/>
                </a:solidFill>
              </a:rPr>
              <a:t>come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for help &amp; </a:t>
            </a:r>
            <a:r>
              <a:rPr lang="en-US" i="1" dirty="0" smtClean="0">
                <a:solidFill>
                  <a:srgbClr val="FF0000"/>
                </a:solidFill>
              </a:rPr>
              <a:t>stay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to interact on research &amp; </a:t>
            </a:r>
            <a:r>
              <a:rPr lang="en-US" dirty="0" err="1" smtClean="0"/>
              <a:t>teachng</a:t>
            </a:r>
            <a:endParaRPr lang="en-US" dirty="0" smtClean="0"/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endParaRPr lang="en-US" dirty="0" smtClean="0"/>
          </a:p>
          <a:p>
            <a:pPr>
              <a:buClr>
                <a:srgbClr val="E37F34"/>
              </a:buClr>
              <a:buFont typeface="Wingdings" pitchFamily="2" charset="2"/>
              <a:buChar char="§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13</a:t>
            </a:fld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IQSS Activities Build a Community of Scholars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A7344AE0-6AB3-C54F-B8ED-E1F5E283BAE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2837445" y="970290"/>
            <a:ext cx="3877985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Administrative Services</a:t>
            </a:r>
          </a:p>
          <a:p>
            <a:pPr>
              <a:buFont typeface="Arial"/>
              <a:buChar char="•"/>
            </a:pPr>
            <a:r>
              <a:rPr lang="en-US" dirty="0" smtClean="0"/>
              <a:t> Support for PIs, Programs and Centers</a:t>
            </a:r>
          </a:p>
          <a:p>
            <a:pPr>
              <a:buFont typeface="Arial"/>
              <a:buChar char="•"/>
            </a:pPr>
            <a:r>
              <a:rPr lang="en-US" dirty="0" smtClean="0"/>
              <a:t> Sponsored Research Administration</a:t>
            </a:r>
            <a:endParaRPr lang="en-US" dirty="0"/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6132720" y="2199604"/>
            <a:ext cx="2797290" cy="31393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Technology </a:t>
            </a:r>
            <a:r>
              <a:rPr lang="en-US" b="1" i="1" dirty="0" smtClean="0"/>
              <a:t>Services</a:t>
            </a:r>
          </a:p>
          <a:p>
            <a:pPr>
              <a:buFont typeface="Arial"/>
              <a:buChar char="•"/>
            </a:pPr>
            <a:r>
              <a:rPr lang="en-US" dirty="0" smtClean="0"/>
              <a:t> Research and Technology Consultants</a:t>
            </a:r>
          </a:p>
          <a:p>
            <a:pPr>
              <a:buFont typeface="Arial"/>
              <a:buChar char="•"/>
            </a:pPr>
            <a:r>
              <a:rPr lang="en-US" dirty="0" smtClean="0"/>
              <a:t> Technical Training</a:t>
            </a:r>
          </a:p>
          <a:p>
            <a:pPr>
              <a:buFont typeface="Arial"/>
              <a:buChar char="•"/>
            </a:pPr>
            <a:r>
              <a:rPr lang="en-US" dirty="0" smtClean="0"/>
              <a:t> Research Computing Environment (RCE)</a:t>
            </a:r>
          </a:p>
          <a:p>
            <a:pPr>
              <a:buFont typeface="Arial"/>
              <a:buChar char="•"/>
            </a:pPr>
            <a:r>
              <a:rPr lang="en-US" dirty="0" smtClean="0"/>
              <a:t> Repository for Social Science Data (</a:t>
            </a:r>
            <a:r>
              <a:rPr lang="en-US" dirty="0" err="1" smtClean="0"/>
              <a:t>Dataverse</a:t>
            </a:r>
            <a:r>
              <a:rPr lang="en-US" dirty="0" smtClean="0"/>
              <a:t>)</a:t>
            </a:r>
          </a:p>
          <a:p>
            <a:pPr>
              <a:buFont typeface="Arial"/>
              <a:buChar char="•"/>
            </a:pPr>
            <a:r>
              <a:rPr lang="en-US" dirty="0" smtClean="0"/>
              <a:t> Faculty Web Sites (</a:t>
            </a:r>
            <a:r>
              <a:rPr lang="en-US" dirty="0" err="1" smtClean="0"/>
              <a:t>OpenScholar</a:t>
            </a:r>
            <a:r>
              <a:rPr lang="en-US" dirty="0" smtClean="0"/>
              <a:t>)</a:t>
            </a:r>
          </a:p>
          <a:p>
            <a:pPr>
              <a:buFont typeface="Arial"/>
              <a:buChar char="•"/>
            </a:pPr>
            <a:endParaRPr lang="en-US" dirty="0"/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3234187" y="4696593"/>
            <a:ext cx="3013091" cy="17543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Technology </a:t>
            </a:r>
            <a:r>
              <a:rPr lang="en-US" b="1" i="1" dirty="0" smtClean="0"/>
              <a:t>Development</a:t>
            </a:r>
          </a:p>
          <a:p>
            <a:pPr>
              <a:buFont typeface="Arial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OpenScholar</a:t>
            </a:r>
            <a:endParaRPr lang="en-US" dirty="0" smtClean="0"/>
          </a:p>
          <a:p>
            <a:pPr>
              <a:buFont typeface="Arial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Dataverse</a:t>
            </a:r>
            <a:r>
              <a:rPr lang="en-US" dirty="0" smtClean="0"/>
              <a:t> Network</a:t>
            </a:r>
          </a:p>
          <a:p>
            <a:pPr>
              <a:buFont typeface="Arial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Zelig</a:t>
            </a:r>
            <a:endParaRPr lang="en-US" dirty="0" smtClean="0"/>
          </a:p>
          <a:p>
            <a:pPr>
              <a:buFont typeface="Arial"/>
              <a:buChar char="•"/>
            </a:pPr>
            <a:r>
              <a:rPr lang="en-US" dirty="0" smtClean="0"/>
              <a:t> Text Clustering Tool</a:t>
            </a:r>
          </a:p>
          <a:p>
            <a:pPr>
              <a:buFont typeface="Arial"/>
              <a:buChar char="•"/>
            </a:pPr>
            <a:r>
              <a:rPr lang="en-US" dirty="0" smtClean="0"/>
              <a:t> Research Computing </a:t>
            </a:r>
            <a:endParaRPr lang="en-US" dirty="0"/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0" y="2483920"/>
            <a:ext cx="3234187" cy="31393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Research/Affiliated Programs</a:t>
            </a:r>
          </a:p>
          <a:p>
            <a:pPr>
              <a:buFont typeface="Arial"/>
              <a:buChar char="•"/>
            </a:pPr>
            <a:r>
              <a:rPr lang="en-US" dirty="0" smtClean="0"/>
              <a:t> Center for Geographic Analysis</a:t>
            </a:r>
          </a:p>
          <a:p>
            <a:pPr>
              <a:buFont typeface="Arial"/>
              <a:buChar char="•"/>
            </a:pPr>
            <a:r>
              <a:rPr lang="en-US" dirty="0" smtClean="0"/>
              <a:t> Program on Survey Research</a:t>
            </a:r>
          </a:p>
          <a:p>
            <a:pPr>
              <a:buFont typeface="Arial"/>
              <a:buChar char="•"/>
            </a:pPr>
            <a:r>
              <a:rPr lang="en-US" dirty="0" smtClean="0"/>
              <a:t> Program on Text Research</a:t>
            </a:r>
          </a:p>
          <a:p>
            <a:pPr>
              <a:buFont typeface="Arial"/>
              <a:buChar char="•"/>
            </a:pPr>
            <a:r>
              <a:rPr lang="en-US" dirty="0" smtClean="0"/>
              <a:t> RWJS in Health Policy Research</a:t>
            </a:r>
          </a:p>
          <a:p>
            <a:pPr>
              <a:buFont typeface="Arial"/>
              <a:buChar char="•"/>
            </a:pPr>
            <a:r>
              <a:rPr lang="en-US" dirty="0" smtClean="0"/>
              <a:t> Positive Political Economy</a:t>
            </a:r>
          </a:p>
          <a:p>
            <a:pPr>
              <a:buFont typeface="Arial"/>
              <a:buChar char="•"/>
            </a:pPr>
            <a:r>
              <a:rPr lang="en-US" dirty="0" smtClean="0"/>
              <a:t> Data Privacy Lab </a:t>
            </a:r>
          </a:p>
          <a:p>
            <a:pPr>
              <a:buFont typeface="Arial"/>
              <a:buChar char="•"/>
            </a:pPr>
            <a:r>
              <a:rPr lang="en-US" dirty="0" smtClean="0"/>
              <a:t> Workshops and Conferences</a:t>
            </a:r>
          </a:p>
          <a:p>
            <a:pPr>
              <a:buFont typeface="Arial"/>
              <a:buChar char="•"/>
            </a:pPr>
            <a:r>
              <a:rPr lang="en-US" dirty="0"/>
              <a:t> </a:t>
            </a:r>
            <a:r>
              <a:rPr lang="en-US" dirty="0" smtClean="0"/>
              <a:t>Program on Methods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0" name="Left Arrow 19"/>
          <p:cNvSpPr/>
          <p:nvPr>
            <p:custDataLst>
              <p:tags r:id="rId8"/>
            </p:custDataLst>
          </p:nvPr>
        </p:nvSpPr>
        <p:spPr>
          <a:xfrm flipH="1">
            <a:off x="2837445" y="3293777"/>
            <a:ext cx="878258" cy="475487"/>
          </a:xfrm>
          <a:prstGeom prst="leftArrow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eft Arrow 20"/>
          <p:cNvSpPr/>
          <p:nvPr>
            <p:custDataLst>
              <p:tags r:id="rId9"/>
            </p:custDataLst>
          </p:nvPr>
        </p:nvSpPr>
        <p:spPr>
          <a:xfrm rot="16200000">
            <a:off x="4059939" y="2390868"/>
            <a:ext cx="867160" cy="484632"/>
          </a:xfrm>
          <a:prstGeom prst="leftArrow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Arrow 21"/>
          <p:cNvSpPr/>
          <p:nvPr>
            <p:custDataLst>
              <p:tags r:id="rId10"/>
            </p:custDataLst>
          </p:nvPr>
        </p:nvSpPr>
        <p:spPr>
          <a:xfrm>
            <a:off x="5263058" y="3289204"/>
            <a:ext cx="886968" cy="484632"/>
          </a:xfrm>
          <a:prstGeom prst="leftArrow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 Arrow 22"/>
          <p:cNvSpPr/>
          <p:nvPr>
            <p:custDataLst>
              <p:tags r:id="rId11"/>
            </p:custDataLst>
          </p:nvPr>
        </p:nvSpPr>
        <p:spPr>
          <a:xfrm rot="5400000">
            <a:off x="4176623" y="4091947"/>
            <a:ext cx="724659" cy="484632"/>
          </a:xfrm>
          <a:prstGeom prst="leftArrow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>
            <p:custDataLst>
              <p:tags r:id="rId12"/>
            </p:custDataLst>
          </p:nvPr>
        </p:nvSpPr>
        <p:spPr>
          <a:xfrm>
            <a:off x="3696849" y="3198350"/>
            <a:ext cx="16626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accent6">
                    <a:lumMod val="50000"/>
                  </a:schemeClr>
                </a:solidFill>
              </a:rPr>
              <a:t>Community &amp;</a:t>
            </a:r>
          </a:p>
          <a:p>
            <a:pPr algn="ctr"/>
            <a:r>
              <a:rPr lang="en-US" sz="2000" b="1" dirty="0" smtClean="0">
                <a:solidFill>
                  <a:schemeClr val="accent6">
                    <a:lumMod val="50000"/>
                  </a:schemeClr>
                </a:solidFill>
              </a:rPr>
              <a:t>Collaboration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CMSS12"/>
              </a:rPr>
              <a:t>For more </a:t>
            </a:r>
            <a:r>
              <a:rPr lang="en-US" dirty="0" smtClean="0">
                <a:solidFill>
                  <a:srgbClr val="FFFFFF"/>
                </a:solidFill>
                <a:latin typeface="CMSS12"/>
              </a:rPr>
              <a:t>information…..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44AE0-6AB3-C54F-B8ED-E1F5E283BA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408861" y="3244334"/>
            <a:ext cx="2326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CMSS12"/>
              </a:rPr>
              <a:t>For more information</a:t>
            </a:r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297" y="1600200"/>
            <a:ext cx="3350723" cy="2994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2732699" y="5067347"/>
            <a:ext cx="25905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http://GKing.Harvard.edu</a:t>
            </a:r>
          </a:p>
        </p:txBody>
      </p:sp>
    </p:spTree>
    <p:extLst>
      <p:ext uri="{BB962C8B-B14F-4D97-AF65-F5344CB8AC3E}">
        <p14:creationId xmlns:p14="http://schemas.microsoft.com/office/powerpoint/2010/main" val="2367788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FNwIt2ELZ4vHG3EQ8slxI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LJ38V8WFMKlhfFZdBDM5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1tNAvMVH4zk72MEl6wPkh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mpOZQUQHLDwNIAklC9J5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W7DdyfwffGGh7oLwV0QmO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Ae441LTFAb3AsGlDmAbv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7qtWz5eJfkXfxo9teLmA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dwV4aiEfajjL7DB4cOrR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Dc9XuSmq8NJCcX0uUV5Z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WLhvSayx8eyvSIVdOLTK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1uqE4HTwLWyZgnGYZcRBF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4H4hzH7j6otqKM5e5QECs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WTsxxPLHTzQxqIAN8cos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wQDTTL60W31tLaP19hxpv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AdlmEiHsd0LMmBUDW0ASC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vXXpY726UqECfqyw7OjuP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IZOd7wlxODhNHopfkAp7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7Kmt5qTMz8XufXBK0wLmC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lrI97RuI4IUoR3RDqVE2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Qd9rDzATmJH6oULVi1hQ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zR6xTn5PIzXcBu0FdU8a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GKFWRvCCKc5AEhk6FdOw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9cihVDNnISTnamSWvAd6O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70QIl7eVmPaxBtEAAZOnu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Hg6YeJHejUjo5irciG8N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dDKoiVZdhrgUjzBmSvd7v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ednm9nH8fHFC3tdPqMe5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7aYRAVNCzoyWox1WLCw8c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eGv7825rTqCm5dnhMLkC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465GOt0CzuFyVimtNLx8v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k1sNzuPKNzrXBo2seBqg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Gwh5VjYz5ZLWM3d0UvNPH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6YGXqlxVHfhckVwtzvLet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cFCYedHUt1qAqipYSD29h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EzIiuqWh3sCEL0ks7keN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MKvd4BC8ck9G02fVIgXcX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YLxoDqwIVuKoNYMhllEV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u50idbBXPzjOLKGGYcCto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WBeg9rUCx1HGgsnldl6XF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5Zc2AFnrjMTP8o3W2a3c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75uejCZhnqZLwf36Qff5I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MqjYhgjWUt9NS7ymlKs1p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QnROSVjNWVycj3UklIYq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CJmWytTvDHujzW6tonD6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fFNus1oJ3ZWkL8rVnPTrh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IZtYdSkAMpYotG831S6TD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nebY1s0Nd5VoXN1uNwptc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mmELMkO1koedCfMfRRAZc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s5Jk2x4At9iQSOjfFFZc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9JbLHyEyTdksUz1rigWKU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VLmXVBbUZZ8UVZ9gPwVV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4wpUKeenIf0D5OppJC3mYd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kZD2i2qqOYNQfW3bnXwgK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hPaJQ6TSzhRb5U6cVliPc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iYasFrGpsXAdINRzbkwWp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Y4R94b1aYUVCxbyoqsc9P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TAScjkmaXiffNZ6BwmunhY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i5gF0MU4KfF5tZWLQF01C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nJbsNT5HMyUVA63Emn2ev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7UDBzBEIgX3CIwuxZ0Y3t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axpQIbiCYo9nCgPbku23h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XowaPn2fsw0K5cJTsqEZ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tkUdHOGu0pPcGrrb1teV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QBwKYABADDYbu4CX7zmKs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bxoKiHqWp3wLtjGXP5Tp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xWLeUDitrsftUwAjhTZ4l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ay2qA0lo5PGkqs82nXYQj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wOBVlrXwsqZhOiurVLCEz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3LKoLLg1JWaBp1ePEFTqyn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mQiFBZmntEllOa84IbGVi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k8EPyW1deEat2RwzGHvI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GohfCh5Id1Fvpg6WI4HJ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8OwrftJZq0KRK9I3D80uuZ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5y1yv8u1HRALzUVf2i74ZB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JTOQnqKXCrv6KFwSCuKB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f2Yn6go0KnlHe7Jxb4lwp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WWRYrZ8bVBUdr4RRAlH1c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s6jjTOnBHA0G61v7OpSzs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7yHqbcbOoqsULKD2ueTrWu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M0FEFkuZPomauLE76kNjU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kVwKsHjxL8QrOUGPY2sxf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QMqmtRcJcczAq2jAZPYB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RSuJxi45edmB5Kj6drl1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L2Ad9s8oOesuqsQ4XhPTt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SduDwo2CyEREVyRJjTF6X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dOXzhSCwfPfd0hfUMG2BF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pHyAup7Y3lGv4xKvD8pM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iF9bCZNSaxEDNEPX3JFZB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yshzeOzSBDiI17dEZIkn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dlwCiY8Gs5DeBNY5CXkJ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a2Y7l4x2YAzOhfCzjyJW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lUtvW5GrR12xbuEaC39p6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hl7TjDOYpKUk1W46sLVHWW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vpqFUTFaEOgzXj7kAIF1Y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kBrZAgtJNlppgGKAmhV9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bYRxSwLX2FSs4PeUjoGU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McRIdAxN3KvhbkBF5P9oli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YUDcK68KGStDBalCaYiE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YkI6UIXAieyfyTD7NpjTJ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COIHe14U03laLeUcOIPyf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ec6uuMAevus3HUoctVvod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vUn7pcAAB3aFQzvBKxhjMx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IIw0OBfU3QyJiIm5zZDU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nRkSBJnd4rX4FpScMYm87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hPdSosIj8DoqkFGV0vwPL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7Md3WcndEyi9yzuFJlVvLi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Fe5cwQYQCi3a3ZOrfk6t4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5gL5bggaBj0PryPRZRmFIG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5969</TotalTime>
  <Words>1056</Words>
  <Application>Microsoft Office PowerPoint</Application>
  <PresentationFormat>On-screen Show (4:3)</PresentationFormat>
  <Paragraphs>177</Paragraphs>
  <Slides>15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Remaking the Social Sciences</vt:lpstr>
      <vt:lpstr>The Spectacular Success of Quantitative  Social Science</vt:lpstr>
      <vt:lpstr>Cause of the Success: The Changing Evidence Base</vt:lpstr>
      <vt:lpstr>Examples of what’s now possible with QSS</vt:lpstr>
      <vt:lpstr>Building Big Social Science: The Economics</vt:lpstr>
      <vt:lpstr>Building Big Social Science: The Politics</vt:lpstr>
      <vt:lpstr>Need Bigger, Faster Computers than you can afford?</vt:lpstr>
      <vt:lpstr>Consulting and Training</vt:lpstr>
      <vt:lpstr>OpenScholar: Faculty &amp; Student Web sites</vt:lpstr>
      <vt:lpstr>Dataverse Network</vt:lpstr>
      <vt:lpstr>Zelig: Everyone’s Statistical Software</vt:lpstr>
      <vt:lpstr>Program on Automated Text Analysis</vt:lpstr>
      <vt:lpstr>Grants Administration (Don’t forget Plumbing!)</vt:lpstr>
      <vt:lpstr>IQSS Activities Build a Community of Scholars </vt:lpstr>
      <vt:lpstr>For more information…..</vt:lpstr>
    </vt:vector>
  </TitlesOfParts>
  <Company>Harvard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Merce Crosas</dc:creator>
  <cp:lastModifiedBy>Gary King</cp:lastModifiedBy>
  <cp:revision>96</cp:revision>
  <dcterms:created xsi:type="dcterms:W3CDTF">2011-12-13T23:03:55Z</dcterms:created>
  <dcterms:modified xsi:type="dcterms:W3CDTF">2012-09-13T17:43:35Z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oogle.Documents.DocumentId">
    <vt:lpwstr>1eKcOlxO6C-pC-SvU_N6is_EYUd455MHW4P320EWLFw8</vt:lpwstr>
  </property>
  <property fmtid="{D5CDD505-2E9C-101B-9397-08002B2CF9AE}" pid="3" name="Google.Documents.RevisionId">
    <vt:lpwstr>12942815523155315111</vt:lpwstr>
  </property>
  <property fmtid="{D5CDD505-2E9C-101B-9397-08002B2CF9AE}" pid="4" name="Google.Documents.PreviousRevisionId">
    <vt:lpwstr>10087033128193487281</vt:lpwstr>
  </property>
  <property fmtid="{D5CDD505-2E9C-101B-9397-08002B2CF9AE}" pid="5" name="Google.Documents.PluginVersion">
    <vt:lpwstr>2.0.2424.7283</vt:lpwstr>
  </property>
  <property fmtid="{D5CDD505-2E9C-101B-9397-08002B2CF9AE}" pid="6" name="Google.Documents.MergeIncapabilityFlags">
    <vt:i4>0</vt:i4>
  </property>
  <property fmtid="{D5CDD505-2E9C-101B-9397-08002B2CF9AE}" pid="7" name="Google.Documents.Tracking">
    <vt:lpwstr>true</vt:lpwstr>
  </property>
</Properties>
</file>