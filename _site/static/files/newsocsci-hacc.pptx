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4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5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6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7" r:id="rId2"/>
    <p:sldId id="262" r:id="rId3"/>
    <p:sldId id="266" r:id="rId4"/>
    <p:sldId id="276" r:id="rId5"/>
    <p:sldId id="263" r:id="rId6"/>
    <p:sldId id="264" r:id="rId7"/>
    <p:sldId id="265" r:id="rId8"/>
    <p:sldId id="259" r:id="rId9"/>
    <p:sldId id="27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A77E7E-4D73-4F26-8FD6-1CE42A79FDA0}">
          <p14:sldIdLst>
            <p14:sldId id="267"/>
          </p14:sldIdLst>
        </p14:section>
        <p14:section name="Untitled Section" id="{1EE70768-BB08-49A2-AFD4-89D0B677A29C}">
          <p14:sldIdLst>
            <p14:sldId id="262"/>
            <p14:sldId id="266"/>
            <p14:sldId id="276"/>
            <p14:sldId id="263"/>
            <p14:sldId id="264"/>
            <p14:sldId id="265"/>
            <p14:sldId id="259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7F34"/>
    <a:srgbClr val="FA9451"/>
    <a:srgbClr val="D16309"/>
    <a:srgbClr val="BB4B00"/>
    <a:srgbClr val="AE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 autoAdjust="0"/>
    <p:restoredTop sz="94673" autoAdjust="0"/>
  </p:normalViewPr>
  <p:slideViewPr>
    <p:cSldViewPr snapToGrid="0" snapToObjects="1">
      <p:cViewPr>
        <p:scale>
          <a:sx n="100" d="100"/>
          <a:sy n="100" d="100"/>
        </p:scale>
        <p:origin x="-91" y="-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DF98D-BABD-C24D-97B5-B0DD1CB07F95}" type="datetimeFigureOut">
              <a:rPr lang="en-US" smtClean="0"/>
              <a:pPr/>
              <a:t>2/10/2013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D64EF-CBAD-AD48-88A5-70396EA7D0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677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BD68E-0A37-BC4B-86C2-AB193D56C553}" type="datetimeFigureOut">
              <a:rPr lang="en-US" smtClean="0"/>
              <a:pPr/>
              <a:t>2/10/2013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778B4-8250-3745-91CA-F53ADD91A7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036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1079639" y="-1"/>
            <a:ext cx="8064361" cy="795303"/>
          </a:xfrm>
          <a:prstGeom prst="rect">
            <a:avLst/>
          </a:prstGeom>
          <a:gradFill flip="none" rotWithShape="1">
            <a:gsLst>
              <a:gs pos="0">
                <a:srgbClr val="BB4B00"/>
              </a:gs>
              <a:gs pos="100000">
                <a:srgbClr val="E37F34"/>
              </a:gs>
            </a:gsLst>
            <a:lin ang="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0A43C-4B07-C740-8E5C-A2376CD45EC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verbigcgis.jpe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" y="-8466"/>
            <a:ext cx="1079637" cy="815468"/>
          </a:xfrm>
          <a:prstGeom prst="rect">
            <a:avLst/>
          </a:prstGeom>
        </p:spPr>
      </p:pic>
      <p:pic>
        <p:nvPicPr>
          <p:cNvPr id="10" name="Picture 9" descr="392927_300.jpeg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370823" y="6346039"/>
            <a:ext cx="365125" cy="3651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68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tags" Target="../tags/tag6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81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90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A Few IQSS Quasi-Research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285592" y="3521798"/>
            <a:ext cx="6486808" cy="213661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800" dirty="0" smtClean="0">
                <a:solidFill>
                  <a:srgbClr val="000000"/>
                </a:solidFill>
                <a:latin typeface="CMSS10"/>
              </a:rPr>
              <a:t>Gary King</a:t>
            </a:r>
          </a:p>
          <a:p>
            <a:pPr marL="0" indent="0">
              <a:buNone/>
            </a:pPr>
            <a:endParaRPr lang="en-US" sz="4800" dirty="0">
              <a:solidFill>
                <a:srgbClr val="000000"/>
              </a:solidFill>
              <a:latin typeface="CMSS1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CMSS8"/>
              </a:rPr>
              <a:t>Institute for Quantitative Social Science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CMSS8"/>
              </a:rPr>
              <a:t>Harvard </a:t>
            </a:r>
            <a:r>
              <a:rPr lang="en-US" dirty="0" smtClean="0">
                <a:solidFill>
                  <a:srgbClr val="000000"/>
                </a:solidFill>
                <a:latin typeface="CMSS8"/>
              </a:rPr>
              <a:t>University</a:t>
            </a: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CMSS8"/>
            </a:endParaRP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CMSS8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CMSS8"/>
              </a:rPr>
              <a:t>(talk </a:t>
            </a:r>
            <a:r>
              <a:rPr lang="en-US" dirty="0" smtClean="0">
                <a:solidFill>
                  <a:srgbClr val="000000"/>
                </a:solidFill>
                <a:latin typeface="CMSS8"/>
              </a:rPr>
              <a:t>at the Harvard Academic Computing Committee, </a:t>
            </a:r>
            <a:r>
              <a:rPr lang="en-US" dirty="0" smtClean="0">
                <a:solidFill>
                  <a:srgbClr val="000000"/>
                </a:solidFill>
                <a:latin typeface="CMSS8"/>
              </a:rPr>
              <a:t>2</a:t>
            </a:r>
            <a:r>
              <a:rPr lang="en-US" dirty="0" smtClean="0">
                <a:solidFill>
                  <a:srgbClr val="000000"/>
                </a:solidFill>
                <a:latin typeface="CMSS8"/>
              </a:rPr>
              <a:t>/11/13)</a:t>
            </a:r>
            <a:endParaRPr lang="en-US" dirty="0">
              <a:solidFill>
                <a:srgbClr val="000000"/>
              </a:solidFill>
              <a:latin typeface="CMSS8"/>
            </a:endParaRPr>
          </a:p>
          <a:p>
            <a:pPr algn="ctr"/>
            <a:r>
              <a:rPr lang="en-US" sz="800" dirty="0">
                <a:solidFill>
                  <a:srgbClr val="FFFFFF"/>
                </a:solidFill>
                <a:latin typeface="CMSS8"/>
              </a:rPr>
              <a:t>Gary King (Harvard) Quantitative Social Science 1 /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2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OpenScholar</a:t>
            </a:r>
            <a:r>
              <a:rPr lang="en-US" dirty="0" smtClean="0"/>
              <a:t>: Faculty &amp; Student Web 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 descr="Picture 1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024" y="862852"/>
            <a:ext cx="5671150" cy="5284592"/>
          </a:xfrm>
          <a:prstGeom prst="rect">
            <a:avLst/>
          </a:prstGeom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2904996" y="1735817"/>
            <a:ext cx="6076860" cy="4525963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</a:t>
            </a:r>
            <a:r>
              <a:rPr lang="en-US" sz="2800" dirty="0" smtClean="0"/>
              <a:t>1,540 </a:t>
            </a:r>
            <a:r>
              <a:rPr lang="en-US" sz="2800" dirty="0" smtClean="0">
                <a:solidFill>
                  <a:srgbClr val="FF0000"/>
                </a:solidFill>
              </a:rPr>
              <a:t>scholar</a:t>
            </a:r>
            <a:r>
              <a:rPr lang="en-US" sz="2800" dirty="0" smtClean="0"/>
              <a:t> sites (growing fast)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</a:t>
            </a:r>
            <a:r>
              <a:rPr lang="en-US" sz="2800" dirty="0" smtClean="0"/>
              <a:t>381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project</a:t>
            </a:r>
            <a:r>
              <a:rPr lang="en-US" sz="2800" dirty="0" smtClean="0"/>
              <a:t> </a:t>
            </a:r>
            <a:r>
              <a:rPr lang="en-US" sz="2800" dirty="0" smtClean="0"/>
              <a:t>sites (including </a:t>
            </a:r>
            <a:r>
              <a:rPr lang="en-US" sz="2800" dirty="0" err="1" smtClean="0"/>
              <a:t>depts</a:t>
            </a:r>
            <a:r>
              <a:rPr lang="en-US" sz="2800" dirty="0" smtClean="0"/>
              <a:t>)</a:t>
            </a:r>
            <a:endParaRPr lang="en-US" sz="2800" dirty="0" smtClean="0"/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Free at openscholar.harvard.edu</a:t>
            </a:r>
          </a:p>
          <a:p>
            <a:pPr marL="457200" lvl="1" indent="0">
              <a:buClr>
                <a:srgbClr val="E37F34"/>
              </a:buClr>
              <a:buNone/>
            </a:pPr>
            <a:r>
              <a:rPr lang="en-US" sz="2000" dirty="0" smtClean="0"/>
              <a:t>($</a:t>
            </a:r>
            <a:r>
              <a:rPr lang="en-US" sz="2000" dirty="0" smtClean="0"/>
              <a:t>5-25K </a:t>
            </a:r>
            <a:r>
              <a:rPr lang="en-US" sz="2000" dirty="0" smtClean="0"/>
              <a:t>saved per site)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Installation at &gt; 100 other Universities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Growing via collaboration (with HUIT and HPAC) to extend to </a:t>
            </a:r>
            <a:r>
              <a:rPr lang="en-US" sz="2800" dirty="0" smtClean="0">
                <a:solidFill>
                  <a:srgbClr val="FF0000"/>
                </a:solidFill>
              </a:rPr>
              <a:t>department</a:t>
            </a:r>
            <a:r>
              <a:rPr lang="en-US" sz="2800" dirty="0" smtClean="0"/>
              <a:t> </a:t>
            </a:r>
            <a:r>
              <a:rPr lang="en-US" sz="2800" dirty="0" smtClean="0"/>
              <a:t>and </a:t>
            </a:r>
            <a:r>
              <a:rPr lang="en-US" sz="2800" dirty="0" smtClean="0">
                <a:solidFill>
                  <a:srgbClr val="FF0000"/>
                </a:solidFill>
              </a:rPr>
              <a:t>administrative </a:t>
            </a:r>
            <a:r>
              <a:rPr lang="en-US" sz="2800" dirty="0" smtClean="0"/>
              <a:t>sites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5" grpI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Automating Support Staff Professionalization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83447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Clr>
                <a:schemeClr val="accent6"/>
              </a:buClr>
              <a:buNone/>
            </a:pPr>
            <a:r>
              <a:rPr lang="en-US" sz="5100" dirty="0" smtClean="0"/>
              <a:t>Customized Ticketing System</a:t>
            </a:r>
            <a:endParaRPr lang="en-US" sz="5100" dirty="0"/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Tuned: </a:t>
            </a:r>
            <a:r>
              <a:rPr lang="en-US" i="1" dirty="0" smtClean="0"/>
              <a:t>modern IT</a:t>
            </a:r>
            <a:r>
              <a:rPr lang="en-US" dirty="0" smtClean="0"/>
              <a:t> married with modern </a:t>
            </a:r>
            <a:r>
              <a:rPr lang="en-US" i="1" dirty="0" smtClean="0"/>
              <a:t>behavioral science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E.g., a closed ticket says: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endParaRPr lang="en-US" dirty="0" smtClean="0"/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dirty="0" smtClean="0"/>
              <a:t>HOW </a:t>
            </a:r>
            <a:r>
              <a:rPr lang="en-US" dirty="0"/>
              <a:t>DID WE DO?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1. If you are completely satisfied with the resolution of this issue,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and </a:t>
            </a:r>
            <a:r>
              <a:rPr lang="en-US" dirty="0"/>
              <a:t>how HMDC staff handled it, read no further </a:t>
            </a:r>
            <a:r>
              <a:rPr lang="en-US" dirty="0" smtClean="0"/>
              <a:t>&amp; take no action</a:t>
            </a:r>
            <a:r>
              <a:rPr lang="en-US" dirty="0"/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2. If issues remain that we can help with, please respond to this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   message </a:t>
            </a:r>
            <a:r>
              <a:rPr lang="en-US" dirty="0"/>
              <a:t>with details and we will continue to work on it.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3. If this issue has been resolved, and you would like to </a:t>
            </a:r>
            <a:r>
              <a:rPr lang="en-US" dirty="0" smtClean="0"/>
              <a:t>comment</a:t>
            </a:r>
            <a:br>
              <a:rPr lang="en-US" dirty="0" smtClean="0"/>
            </a:br>
            <a:r>
              <a:rPr lang="en-US" dirty="0" smtClean="0"/>
              <a:t>    on the resolution</a:t>
            </a:r>
            <a:r>
              <a:rPr lang="en-US" dirty="0"/>
              <a:t> or your interaction with our staff, HMDC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management would appreciate </a:t>
            </a:r>
            <a:r>
              <a:rPr lang="en-US" dirty="0"/>
              <a:t>you clicking the link below </a:t>
            </a:r>
            <a:r>
              <a:rPr lang="en-US" dirty="0" smtClean="0"/>
              <a:t>to </a:t>
            </a:r>
            <a:br>
              <a:rPr lang="en-US" dirty="0" smtClean="0"/>
            </a:br>
            <a:r>
              <a:rPr lang="en-US" dirty="0" smtClean="0"/>
              <a:t>    answer </a:t>
            </a:r>
            <a:r>
              <a:rPr lang="en-US" dirty="0"/>
              <a:t>a few questions</a:t>
            </a:r>
            <a:r>
              <a:rPr lang="en-US" dirty="0" smtClean="0"/>
              <a:t>.</a:t>
            </a:r>
          </a:p>
          <a:p>
            <a:pPr marL="0" indent="0">
              <a:buClr>
                <a:schemeClr val="accent6"/>
              </a:buClr>
              <a:buNone/>
            </a:pPr>
            <a:endParaRPr lang="en-US" dirty="0"/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In the last 18 months: about 7,000 tickets filed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Number “dissatisfied”?  </a:t>
            </a:r>
            <a:r>
              <a:rPr lang="en-US" dirty="0" smtClean="0">
                <a:solidFill>
                  <a:srgbClr val="FF0000"/>
                </a:solidFill>
              </a:rPr>
              <a:t>Zero</a:t>
            </a:r>
            <a:r>
              <a:rPr lang="en-US" dirty="0" smtClean="0"/>
              <a:t>.</a:t>
            </a:r>
            <a:endParaRPr lang="en-US" i="1" dirty="0"/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endParaRPr lang="en-US" dirty="0" smtClean="0"/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3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Need Bigger, Faster </a:t>
            </a:r>
            <a:r>
              <a:rPr lang="en-US" dirty="0" smtClean="0"/>
              <a:t>Computers than you can afford?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83447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buClr>
                <a:schemeClr val="accent6"/>
              </a:buClr>
              <a:buNone/>
            </a:pPr>
            <a:r>
              <a:rPr lang="en-US" dirty="0" smtClean="0"/>
              <a:t>IQSS Research </a:t>
            </a:r>
            <a:r>
              <a:rPr lang="en-US" dirty="0"/>
              <a:t>Computing Environment (RCE</a:t>
            </a:r>
            <a:r>
              <a:rPr lang="en-US" dirty="0" smtClean="0"/>
              <a:t>):</a:t>
            </a:r>
            <a:endParaRPr lang="en-US" dirty="0"/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&gt; 1500 </a:t>
            </a:r>
            <a:r>
              <a:rPr lang="en-US" i="1" dirty="0" smtClean="0"/>
              <a:t>shared</a:t>
            </a:r>
            <a:r>
              <a:rPr lang="en-US" dirty="0" smtClean="0"/>
              <a:t> computing </a:t>
            </a:r>
            <a:r>
              <a:rPr lang="en-US" dirty="0" smtClean="0"/>
              <a:t>cores</a:t>
            </a:r>
            <a:endParaRPr lang="en-US" dirty="0" smtClean="0"/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Tuned for Social Science Research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Numerous </a:t>
            </a:r>
            <a:r>
              <a:rPr lang="en-US" dirty="0" smtClean="0"/>
              <a:t>active users 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A persistent environment, sign on from anywhere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Growing via collaborative research project to extend platform to the Amazon cloud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Making into open source software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4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810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Dataverse</a:t>
            </a:r>
            <a:r>
              <a:rPr lang="en-US" dirty="0" smtClean="0"/>
              <a:t>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Picture 2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21601" y="849342"/>
            <a:ext cx="5870792" cy="52227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3053630" y="1585916"/>
            <a:ext cx="6090370" cy="4525963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Your own </a:t>
            </a:r>
            <a:r>
              <a:rPr lang="en-US" sz="2800" dirty="0" smtClean="0">
                <a:solidFill>
                  <a:srgbClr val="FF0000"/>
                </a:solidFill>
              </a:rPr>
              <a:t>easy-to-use virtual archive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Largest collection of social science data in the world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Our installation: ~ 1000 </a:t>
            </a:r>
            <a:r>
              <a:rPr lang="en-US" sz="2800" dirty="0" err="1" smtClean="0"/>
              <a:t>dataverses</a:t>
            </a:r>
            <a:r>
              <a:rPr lang="en-US" sz="2800" dirty="0" smtClean="0"/>
              <a:t>, 51,000 studies, 715,000 files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20 installations in other Universities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With HUL &amp; HUIT, </a:t>
            </a:r>
            <a:r>
              <a:rPr lang="en-US" sz="2800" dirty="0" smtClean="0"/>
              <a:t>e</a:t>
            </a:r>
            <a:r>
              <a:rPr lang="en-US" sz="2800" dirty="0" smtClean="0"/>
              <a:t>xpanding to humanities </a:t>
            </a:r>
            <a:r>
              <a:rPr lang="en-US" sz="2800" dirty="0" smtClean="0"/>
              <a:t>&amp; sciences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Free, open source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endParaRPr lang="en-US" sz="2800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Zelig</a:t>
            </a:r>
            <a:r>
              <a:rPr lang="en-US" dirty="0" smtClean="0"/>
              <a:t>: Everyone’s Statistical Software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Easy, standardized solution to R’s power and diversity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/>
              <a:t>&gt;</a:t>
            </a:r>
            <a:r>
              <a:rPr lang="en-US" dirty="0" smtClean="0"/>
              <a:t>100 statistical methods in common format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Hundreds of thousands of users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(Optional GUI through </a:t>
            </a:r>
            <a:r>
              <a:rPr lang="en-US" dirty="0" err="1" smtClean="0"/>
              <a:t>Dataverse</a:t>
            </a:r>
            <a:r>
              <a:rPr lang="en-US" dirty="0" smtClean="0"/>
              <a:t>, no R knowledge required)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Huge </a:t>
            </a:r>
            <a:r>
              <a:rPr lang="en-US" i="1" dirty="0" smtClean="0"/>
              <a:t>local </a:t>
            </a:r>
            <a:r>
              <a:rPr lang="en-US" dirty="0" smtClean="0"/>
              <a:t>and </a:t>
            </a:r>
            <a:r>
              <a:rPr lang="en-US" i="1" dirty="0" smtClean="0"/>
              <a:t>international </a:t>
            </a:r>
            <a:r>
              <a:rPr lang="en-US" dirty="0" smtClean="0"/>
              <a:t>network effects: students </a:t>
            </a:r>
            <a:r>
              <a:rPr lang="en-US" dirty="0"/>
              <a:t>learning from each other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Growing via open source contributions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Program on Automated Text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6" y="1853292"/>
            <a:ext cx="8524711" cy="46699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2710543" y="1551214"/>
            <a:ext cx="6491138" cy="248321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“Computer-assisted reading”, a new way to organize and make sense of huge amounts of unstructured text.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Some services available now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New (self-serve) approaches </a:t>
            </a:r>
            <a:r>
              <a:rPr lang="en-US" sz="2800" dirty="0"/>
              <a:t>u</a:t>
            </a:r>
            <a:r>
              <a:rPr lang="en-US" sz="2800" dirty="0" smtClean="0"/>
              <a:t>nder development, available soon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IQSS Activities Build a Community of Scholars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837445" y="970290"/>
            <a:ext cx="38779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Administrative Services</a:t>
            </a:r>
          </a:p>
          <a:p>
            <a:pPr>
              <a:buFont typeface="Arial"/>
              <a:buChar char="•"/>
            </a:pPr>
            <a:r>
              <a:rPr lang="en-US" dirty="0" smtClean="0"/>
              <a:t> Support for PIs, Programs and Centers</a:t>
            </a:r>
          </a:p>
          <a:p>
            <a:pPr>
              <a:buFont typeface="Arial"/>
              <a:buChar char="•"/>
            </a:pPr>
            <a:r>
              <a:rPr lang="en-US" dirty="0" smtClean="0"/>
              <a:t> Sponsored Research Administration</a:t>
            </a:r>
            <a:endParaRPr lang="en-US" dirty="0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132720" y="2199604"/>
            <a:ext cx="2797290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Technology </a:t>
            </a:r>
            <a:r>
              <a:rPr lang="en-US" b="1" i="1" dirty="0" smtClean="0"/>
              <a:t>Services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and Technology Consultants</a:t>
            </a:r>
          </a:p>
          <a:p>
            <a:pPr>
              <a:buFont typeface="Arial"/>
              <a:buChar char="•"/>
            </a:pPr>
            <a:r>
              <a:rPr lang="en-US" dirty="0" smtClean="0"/>
              <a:t> Technical Training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Computing Environment (RCE)</a:t>
            </a:r>
          </a:p>
          <a:p>
            <a:pPr>
              <a:buFont typeface="Arial"/>
              <a:buChar char="•"/>
            </a:pPr>
            <a:r>
              <a:rPr lang="en-US" dirty="0" smtClean="0"/>
              <a:t> Repository for Social Science Data (</a:t>
            </a:r>
            <a:r>
              <a:rPr lang="en-US" dirty="0" err="1" smtClean="0"/>
              <a:t>Dataverse</a:t>
            </a:r>
            <a:r>
              <a:rPr lang="en-US" dirty="0" smtClean="0"/>
              <a:t>)</a:t>
            </a:r>
          </a:p>
          <a:p>
            <a:pPr>
              <a:buFont typeface="Arial"/>
              <a:buChar char="•"/>
            </a:pPr>
            <a:r>
              <a:rPr lang="en-US" dirty="0" smtClean="0"/>
              <a:t> Faculty Web Sites (</a:t>
            </a:r>
            <a:r>
              <a:rPr lang="en-US" dirty="0" err="1" smtClean="0"/>
              <a:t>OpenScholar</a:t>
            </a:r>
            <a:r>
              <a:rPr lang="en-US" dirty="0" smtClean="0"/>
              <a:t>)</a:t>
            </a:r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3234187" y="4696593"/>
            <a:ext cx="3013091" cy="17543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Technology </a:t>
            </a:r>
            <a:r>
              <a:rPr lang="en-US" b="1" i="1" dirty="0" smtClean="0"/>
              <a:t>Development</a:t>
            </a:r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OpenScholar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Dataverse</a:t>
            </a:r>
            <a:r>
              <a:rPr lang="en-US" dirty="0" smtClean="0"/>
              <a:t> Network</a:t>
            </a:r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Zelig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Consilience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Research Computing </a:t>
            </a:r>
            <a:endParaRPr lang="en-US" dirty="0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0" y="2483920"/>
            <a:ext cx="3234187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Research/Affiliated Programs</a:t>
            </a:r>
          </a:p>
          <a:p>
            <a:pPr>
              <a:buFont typeface="Arial"/>
              <a:buChar char="•"/>
            </a:pPr>
            <a:r>
              <a:rPr lang="en-US" dirty="0" smtClean="0"/>
              <a:t> Center for Geographic Analysis</a:t>
            </a:r>
          </a:p>
          <a:p>
            <a:pPr>
              <a:buFont typeface="Arial"/>
              <a:buChar char="•"/>
            </a:pPr>
            <a:r>
              <a:rPr lang="en-US" dirty="0" smtClean="0"/>
              <a:t> Program on Survey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Program on Text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RWJS in Health Policy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Positive Political Economy</a:t>
            </a:r>
          </a:p>
          <a:p>
            <a:pPr>
              <a:buFont typeface="Arial"/>
              <a:buChar char="•"/>
            </a:pPr>
            <a:r>
              <a:rPr lang="en-US" dirty="0" smtClean="0"/>
              <a:t> Data Privacy Lab </a:t>
            </a:r>
          </a:p>
          <a:p>
            <a:pPr>
              <a:buFont typeface="Arial"/>
              <a:buChar char="•"/>
            </a:pPr>
            <a:r>
              <a:rPr lang="en-US" dirty="0" smtClean="0"/>
              <a:t> Workshops and Conferences</a:t>
            </a:r>
          </a:p>
          <a:p>
            <a:pPr>
              <a:buFont typeface="Arial"/>
              <a:buChar char="•"/>
            </a:pPr>
            <a:r>
              <a:rPr lang="en-US" dirty="0"/>
              <a:t> </a:t>
            </a:r>
            <a:r>
              <a:rPr lang="en-US" dirty="0" smtClean="0"/>
              <a:t>Program on Methods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0" name="Left Arrow 19"/>
          <p:cNvSpPr/>
          <p:nvPr>
            <p:custDataLst>
              <p:tags r:id="rId8"/>
            </p:custDataLst>
          </p:nvPr>
        </p:nvSpPr>
        <p:spPr>
          <a:xfrm flipH="1">
            <a:off x="2837445" y="3293777"/>
            <a:ext cx="878258" cy="475487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Arrow 20"/>
          <p:cNvSpPr/>
          <p:nvPr>
            <p:custDataLst>
              <p:tags r:id="rId9"/>
            </p:custDataLst>
          </p:nvPr>
        </p:nvSpPr>
        <p:spPr>
          <a:xfrm rot="16200000">
            <a:off x="4059939" y="2390868"/>
            <a:ext cx="867160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Arrow 21"/>
          <p:cNvSpPr/>
          <p:nvPr>
            <p:custDataLst>
              <p:tags r:id="rId10"/>
            </p:custDataLst>
          </p:nvPr>
        </p:nvSpPr>
        <p:spPr>
          <a:xfrm>
            <a:off x="5263058" y="3289204"/>
            <a:ext cx="886968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Arrow 22"/>
          <p:cNvSpPr/>
          <p:nvPr>
            <p:custDataLst>
              <p:tags r:id="rId11"/>
            </p:custDataLst>
          </p:nvPr>
        </p:nvSpPr>
        <p:spPr>
          <a:xfrm rot="5400000">
            <a:off x="4176623" y="4091947"/>
            <a:ext cx="724659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3696849" y="3198350"/>
            <a:ext cx="16626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Community &amp;</a:t>
            </a:r>
          </a:p>
          <a:p>
            <a:pPr algn="ctr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Collaboration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MSS12"/>
              </a:rPr>
              <a:t>For more </a:t>
            </a:r>
            <a:r>
              <a:rPr lang="en-US" dirty="0" smtClean="0">
                <a:solidFill>
                  <a:srgbClr val="FFFFFF"/>
                </a:solidFill>
                <a:latin typeface="CMSS12"/>
              </a:rPr>
              <a:t>information…..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08861" y="3244334"/>
            <a:ext cx="2326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MSS12"/>
              </a:rPr>
              <a:t>For more information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73924" y="5174074"/>
            <a:ext cx="1563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iq.harvard.edu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141" y="1082040"/>
            <a:ext cx="3977640" cy="3977640"/>
          </a:xfrm>
        </p:spPr>
      </p:pic>
    </p:spTree>
    <p:extLst>
      <p:ext uri="{BB962C8B-B14F-4D97-AF65-F5344CB8AC3E}">
        <p14:creationId xmlns:p14="http://schemas.microsoft.com/office/powerpoint/2010/main" val="236778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FNwIt2ELZ4vHG3EQ8slx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LJ38V8WFMKlhfFZdBDM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1tNAvMVH4zk72MEl6wPk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pOZQUQHLDwNIAklC9J5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W7DdyfwffGGh7oLwV0Qm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e441LTFAb3AsGlDmAbv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7qtWz5eJfkXfxo9teLmA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dwV4aiEfajjL7DB4cOrR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Dc9XuSmq8NJCcX0uUV5Z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WLhvSayx8eyvSIVdOLTK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1uqE4HTwLWyZgnGYZcRB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4H4hzH7j6otqKM5e5QEC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WTsxxPLHTzQxqIAN8co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wQDTTL60W31tLaP19hxpv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AdlmEiHsd0LMmBUDW0AS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XXpY726UqECfqyw7OjuP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IZOd7wlxODhNHopfkAp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Kmt5qTMz8XufXBK0wLm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lrI97RuI4IUoR3RDqVE2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Qd9rDzATmJH6oULVi1hQ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zR6xTn5PIzXcBu0FdU8a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KFWRvCCKc5AEhk6FdOw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9cihVDNnISTnamSWvAd6O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0QIl7eVmPaxBtEAAZOnu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g6YeJHejUjo5irciG8N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dDKoiVZdhrgUjzBmSvd7v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ednm9nH8fHFC3tdPqMe5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7aYRAVNCzoyWox1WLCw8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eGv7825rTqCm5dnhMLkC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465GOt0CzuFyVimtNLx8v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k1sNzuPKNzrXBo2seBqg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Gwh5VjYz5ZLWM3d0UvNPH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6YGXqlxVHfhckVwtzvLe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FCYedHUt1qAqipYSD29h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zIiuqWh3sCEL0ks7keN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MKvd4BC8ck9G02fVIgXcX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YLxoDqwIVuKoNYMhllEV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u50idbBXPzjOLKGGYcCto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WBeg9rUCx1HGgsnldl6XF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Zc2AFnrjMTP8o3W2a3c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75uejCZhnqZLwf36Qff5I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MqjYhgjWUt9NS7ymlKs1p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QnROSVjNWVycj3UklIYq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CJmWytTvDHujzW6tonD6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fFNus1oJ3ZWkL8rVnPTrh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IZtYdSkAMpYotG831S6T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nebY1s0Nd5VoXN1uNwpt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mELMkO1koedCfMfRRAZc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s5Jk2x4At9iQSOjfFFZc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9JbLHyEyTdksUz1rigWKU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VLmXVBbUZZ8UVZ9gPwVV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wpUKeenIf0D5OppJC3mY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kZD2i2qqOYNQfW3bnXwgK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hPaJQ6TSzhRb5U6cVliPc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iYasFrGpsXAdINRzbkwW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Y4R94b1aYUVCxbyoqsc9P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AScjkmaXiffNZ6BwmunhY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i5gF0MU4KfF5tZWLQF01C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JbsNT5HMyUVA63Emn2ev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7UDBzBEIgX3CIwuxZ0Y3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axpQIbiCYo9nCgPbku23h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XowaPn2fsw0K5cJTsqEZ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kUdHOGu0pPcGrrb1teV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QBwKYABADDYbu4CX7zmK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bxoKiHqWp3wLtjGXP5Tp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5y1yv8u1HRALzUVf2i74ZB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JTOQnqKXCrv6KFwSCuKB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f2Yn6go0KnlHe7Jxb4lwp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WRYrZ8bVBUdr4RRAlH1c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s6jjTOnBHA0G61v7OpSzs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WLeUDitrsftUwAjhTZ4l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y2qA0lo5PGkqs82nXYQj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OBVlrXwsqZhOiurVLCEz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LKoLLg1JWaBp1ePEFTqy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WLeUDitrsftUwAjhTZ4l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y2qA0lo5PGkqs82nXYQj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OBVlrXwsqZhOiurVLCEz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LKoLLg1JWaBp1ePEFTqyn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7yHqbcbOoqsULKD2ueTrWu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0FEFkuZPomauLE76kNjU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kVwKsHjxL8QrOUGPY2sxf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MqmtRcJcczAq2jAZPYB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RSuJxi45edmB5Kj6drl1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2Ad9s8oOesuqsQ4XhPTt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duDwo2CyEREVyRJjTF6X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dOXzhSCwfPfd0hfUMG2BF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pHyAup7Y3lGv4xKvD8pM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F9bCZNSaxEDNEPX3JFZB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shzeOzSBDiI17dEZIkn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dlwCiY8Gs5DeBNY5CXkJ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a2Y7l4x2YAzOhfCzjyJW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UtvW5GrR12xbuEaC39p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cRIdAxN3KvhbkBF5P9oli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YUDcK68KGStDBalCaYiE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YkI6UIXAieyfyTD7NpjTJ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COIHe14U03laLeUcOIPyf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ec6uuMAevus3HUoctVvo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Un7pcAAB3aFQzvBKxhjMx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IIw0OBfU3QyJiIm5zZDU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nRkSBJnd4rX4FpScMYm8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hPdSosIj8DoqkFGV0vwP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Md3WcndEyi9yzuFJlVvLi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Fe5cwQYQCi3a3ZOrfk6t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gL5bggaBj0PryPRZRmFI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6015</TotalTime>
  <Words>447</Words>
  <Application>Microsoft Office PowerPoint</Application>
  <PresentationFormat>On-screen Show (4:3)</PresentationFormat>
  <Paragraphs>97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 Few IQSS Quasi-Research Projects</vt:lpstr>
      <vt:lpstr>OpenScholar: Faculty &amp; Student Web sites</vt:lpstr>
      <vt:lpstr>Automating Support Staff Professionalization</vt:lpstr>
      <vt:lpstr>Need Bigger, Faster Computers than you can afford?</vt:lpstr>
      <vt:lpstr>Dataverse Network</vt:lpstr>
      <vt:lpstr>Zelig: Everyone’s Statistical Software</vt:lpstr>
      <vt:lpstr>Program on Automated Text Analysis</vt:lpstr>
      <vt:lpstr>IQSS Activities Build a Community of Scholars </vt:lpstr>
      <vt:lpstr>For more information…..</vt:lpstr>
    </vt:vector>
  </TitlesOfParts>
  <Company>Harvard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Merce Crosas</dc:creator>
  <cp:lastModifiedBy>Gary King</cp:lastModifiedBy>
  <cp:revision>103</cp:revision>
  <dcterms:created xsi:type="dcterms:W3CDTF">2011-12-13T23:03:55Z</dcterms:created>
  <dcterms:modified xsi:type="dcterms:W3CDTF">2013-02-10T21:36:32Z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DocumentId">
    <vt:lpwstr>1eKcOlxO6C-pC-SvU_N6is_EYUd455MHW4P320EWLFw8</vt:lpwstr>
  </property>
  <property fmtid="{D5CDD505-2E9C-101B-9397-08002B2CF9AE}" pid="3" name="Google.Documents.RevisionId">
    <vt:lpwstr>12942815523155315111</vt:lpwstr>
  </property>
  <property fmtid="{D5CDD505-2E9C-101B-9397-08002B2CF9AE}" pid="4" name="Google.Documents.PreviousRevisionId">
    <vt:lpwstr>10087033128193487281</vt:lpwstr>
  </property>
  <property fmtid="{D5CDD505-2E9C-101B-9397-08002B2CF9AE}" pid="5" name="Google.Documents.PluginVersion">
    <vt:lpwstr>2.0.2424.7283</vt:lpwstr>
  </property>
  <property fmtid="{D5CDD505-2E9C-101B-9397-08002B2CF9AE}" pid="6" name="Google.Documents.MergeIncapabilityFlags">
    <vt:i4>0</vt:i4>
  </property>
  <property fmtid="{D5CDD505-2E9C-101B-9397-08002B2CF9AE}" pid="7" name="Google.Documents.Tracking">
    <vt:lpwstr>true</vt:lpwstr>
  </property>
</Properties>
</file>