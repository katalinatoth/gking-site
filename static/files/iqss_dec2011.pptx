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5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6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7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8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9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0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2"/>
    <p:sldId id="256" r:id="rId3"/>
    <p:sldId id="257" r:id="rId4"/>
    <p:sldId id="266" r:id="rId5"/>
    <p:sldId id="261" r:id="rId6"/>
    <p:sldId id="262" r:id="rId7"/>
    <p:sldId id="263" r:id="rId8"/>
    <p:sldId id="264" r:id="rId9"/>
    <p:sldId id="265" r:id="rId10"/>
    <p:sldId id="260" r:id="rId11"/>
    <p:sldId id="25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F34"/>
    <a:srgbClr val="FA9451"/>
    <a:srgbClr val="D16309"/>
    <a:srgbClr val="BB4B00"/>
    <a:srgbClr val="AE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-2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DF98D-BABD-C24D-97B5-B0DD1CB07F95}" type="datetimeFigureOut">
              <a:rPr lang="en-US" smtClean="0"/>
              <a:pPr/>
              <a:t>12/15/2011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D64EF-CBAD-AD48-88A5-70396EA7D0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6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BD68E-0A37-BC4B-86C2-AB193D56C553}" type="datetimeFigureOut">
              <a:rPr lang="en-US" smtClean="0"/>
              <a:pPr/>
              <a:t>12/15/2011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778B4-8250-3745-91CA-F53ADD91A7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036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37F112C2-A2DB-5A49-8360-48EB8430E895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EF760712-D018-774E-9FB2-B4EC7090B7C5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29A40B2-6F58-B843-8331-D1468D4AE0F9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CFADD917-61BD-1949-A2F1-1C009B473D9A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2A8A230-B54A-B945-A117-D46BE058BB83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7C3B2A5-AB57-5549-A2BD-1355D6E0A998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D3C0E58A-F12D-9E4C-B702-A41576007EB1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BD5E00AC-DBF6-3D4C-8D5E-E234D90ED209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E820A145-94A8-E84C-8B35-FDB5E598DDD2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4CD1FD0-288D-3E4C-A838-931BE367F274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E34E97DE-831B-B24D-A6BD-7C3F28A163EE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1079639" y="-1"/>
            <a:ext cx="8064361" cy="795303"/>
          </a:xfrm>
          <a:prstGeom prst="rect">
            <a:avLst/>
          </a:prstGeom>
          <a:gradFill flip="none" rotWithShape="1">
            <a:gsLst>
              <a:gs pos="0">
                <a:srgbClr val="BB4B00"/>
              </a:gs>
              <a:gs pos="100000">
                <a:srgbClr val="E37F34"/>
              </a:gs>
            </a:gsLst>
            <a:lin ang="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66BE2-6DF0-9841-9371-CF2F487F9A3A}" type="datetime3">
              <a:rPr lang="en-US" smtClean="0"/>
              <a:pPr/>
              <a:t>15 December 2011</a:t>
            </a:fld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0A43C-4B07-C740-8E5C-A2376CD45EC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verbigcgis.jpe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" y="-8466"/>
            <a:ext cx="1079637" cy="815468"/>
          </a:xfrm>
          <a:prstGeom prst="rect">
            <a:avLst/>
          </a:prstGeom>
        </p:spPr>
      </p:pic>
      <p:pic>
        <p:nvPicPr>
          <p:cNvPr id="10" name="Picture 9" descr="392927_300.jpeg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370823" y="6346039"/>
            <a:ext cx="365125" cy="3651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8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3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openxmlformats.org/officeDocument/2006/relationships/tags" Target="../tags/tag10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0" Type="http://schemas.openxmlformats.org/officeDocument/2006/relationships/tags" Target="../tags/tag119.xml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The Institute of Quantitative Social Science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Gary King</a:t>
            </a:r>
            <a:endParaRPr lang="en-US" dirty="0"/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0" y="0"/>
            <a:ext cx="1175512" cy="9997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Social Science Data Revolution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026764"/>
            <a:ext cx="8229600" cy="5281446"/>
          </a:xfrm>
        </p:spPr>
        <p:txBody>
          <a:bodyPr lIns="91440">
            <a:spAutoFit/>
          </a:bodyPr>
          <a:lstStyle/>
          <a:p>
            <a:pPr>
              <a:buClr>
                <a:srgbClr val="FF6600"/>
              </a:buClr>
              <a:buFont typeface="Wingdings" charset="2"/>
              <a:buChar char="§"/>
            </a:pPr>
            <a:r>
              <a:rPr lang="en-US" sz="2400" dirty="0" smtClean="0"/>
              <a:t>The Last 50 Years: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Survey research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Aggregate government statistics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In depth studies of individual places, people, or events</a:t>
            </a:r>
          </a:p>
          <a:p>
            <a:pPr>
              <a:buClr>
                <a:srgbClr val="FF6600"/>
              </a:buClr>
              <a:buFont typeface="Wingdings" charset="2"/>
              <a:buChar char="§"/>
            </a:pPr>
            <a:r>
              <a:rPr lang="en-US" sz="2400" dirty="0" smtClean="0"/>
              <a:t>The Next 50 Years: Spectacular changes due to. . .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Much more of the above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Shrinking computers &amp; the growing Internet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/>
              <a:t>Analogue-to-digital transformation of government </a:t>
            </a:r>
            <a:r>
              <a:rPr lang="en-US" sz="1800" dirty="0" smtClean="0"/>
              <a:t>records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The replication movement: academic data sharing (e.g., </a:t>
            </a:r>
            <a:r>
              <a:rPr lang="en-US" sz="1800" dirty="0" err="1" smtClean="0"/>
              <a:t>Dataverse</a:t>
            </a:r>
            <a:r>
              <a:rPr lang="en-US" sz="1800" dirty="0" smtClean="0"/>
              <a:t>)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Advances in methods 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/>
              <a:t>The march of quantiﬁcation: through academia, professions, government, &amp; commerce (</a:t>
            </a:r>
            <a:r>
              <a:rPr lang="en-US" sz="1800" i="1" dirty="0" err="1" smtClean="0"/>
              <a:t>MoneyBall</a:t>
            </a:r>
            <a:r>
              <a:rPr lang="en-US" sz="1800" i="1" dirty="0" smtClean="0"/>
              <a:t>, </a:t>
            </a:r>
            <a:r>
              <a:rPr lang="en-US" sz="1800" i="1" dirty="0" err="1" smtClean="0"/>
              <a:t>SuperCrunchers</a:t>
            </a:r>
            <a:r>
              <a:rPr lang="en-US" sz="1800" i="1" dirty="0" smtClean="0"/>
              <a:t>, The </a:t>
            </a:r>
            <a:r>
              <a:rPr lang="en-US" sz="1800" i="1" dirty="0" err="1" smtClean="0"/>
              <a:t>Numerati</a:t>
            </a:r>
            <a:r>
              <a:rPr lang="en-US" sz="1800" dirty="0" smtClean="0"/>
              <a:t>)</a:t>
            </a:r>
          </a:p>
          <a:p>
            <a:pPr lvl="1">
              <a:buClr>
                <a:srgbClr val="FF6600"/>
              </a:buClr>
              <a:buFont typeface="Wingdings" charset="2"/>
              <a:buChar char="§"/>
            </a:pPr>
            <a:r>
              <a:rPr lang="en-US" sz="1800" dirty="0" smtClean="0">
                <a:solidFill>
                  <a:srgbClr val="FF0000"/>
                </a:solidFill>
              </a:rPr>
              <a:t>The end of the quantitative-qualitative divide:</a:t>
            </a:r>
          </a:p>
          <a:p>
            <a:pPr lvl="2">
              <a:buClr>
                <a:srgbClr val="FF6600"/>
              </a:buClr>
              <a:buFont typeface="Wingdings" charset="2"/>
              <a:buChar char="§"/>
            </a:pPr>
            <a:r>
              <a:rPr lang="en-US" sz="1400" dirty="0" smtClean="0">
                <a:solidFill>
                  <a:srgbClr val="FF0000"/>
                </a:solidFill>
              </a:rPr>
              <a:t>Diverse perspectives remain but, with text, video, field notes etc. as data,</a:t>
            </a:r>
          </a:p>
          <a:p>
            <a:pPr lvl="2">
              <a:buClr>
                <a:srgbClr val="FF6600"/>
              </a:buClr>
              <a:buFont typeface="Wingdings" charset="2"/>
              <a:buChar char="§"/>
            </a:pPr>
            <a:r>
              <a:rPr lang="en-US" sz="1400" dirty="0" smtClean="0">
                <a:solidFill>
                  <a:srgbClr val="FF0000"/>
                </a:solidFill>
              </a:rPr>
              <a:t>We now all benefit from the same technologies</a:t>
            </a:r>
          </a:p>
          <a:p>
            <a:pPr lvl="2">
              <a:buClr>
                <a:srgbClr val="FF6600"/>
              </a:buClr>
              <a:buFont typeface="Wingdings" charset="2"/>
              <a:buChar char="§"/>
            </a:pPr>
            <a:r>
              <a:rPr lang="en-US" sz="1400" dirty="0" smtClean="0">
                <a:solidFill>
                  <a:srgbClr val="FF0000"/>
                </a:solidFill>
              </a:rPr>
              <a:t>Advantages of collaboration are growing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IQSS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121328"/>
            <a:ext cx="8229600" cy="5052730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400" dirty="0" smtClean="0"/>
              <a:t>Social scientists need vastly improved infrastructure.</a:t>
            </a:r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endParaRPr lang="en-US" sz="2400" dirty="0"/>
          </a:p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r>
              <a:rPr lang="en-US" sz="2400" dirty="0" smtClean="0"/>
              <a:t>Harvard’s response:  IQSS -- a </a:t>
            </a:r>
            <a:r>
              <a:rPr lang="en-US" sz="2400" i="1" dirty="0" smtClean="0"/>
              <a:t>hybrid organization</a:t>
            </a:r>
            <a:endParaRPr lang="en-US" sz="2400" dirty="0" smtClean="0"/>
          </a:p>
          <a:p>
            <a:pPr>
              <a:buClr>
                <a:schemeClr val="accent6">
                  <a:lumMod val="75000"/>
                </a:schemeClr>
              </a:buClr>
              <a:buFont typeface="Wingdings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A traditional research center:</a:t>
            </a:r>
            <a:r>
              <a:rPr lang="en-US" sz="2400" dirty="0" smtClean="0"/>
              <a:t> facilitating research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charset="2"/>
              <a:buChar char="§"/>
            </a:pPr>
            <a:r>
              <a:rPr lang="en-US" sz="2400" dirty="0" smtClean="0">
                <a:solidFill>
                  <a:srgbClr val="FF0000"/>
                </a:solidFill>
              </a:rPr>
              <a:t>Part of the Harvard administration: </a:t>
            </a:r>
            <a:r>
              <a:rPr lang="en-US" sz="2400" dirty="0" smtClean="0"/>
              <a:t>building infrastructure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charset="2"/>
              <a:buChar char="§"/>
            </a:pP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FF0000"/>
                </a:solidFill>
              </a:rPr>
              <a:t>Synergies:</a:t>
            </a:r>
            <a:r>
              <a:rPr lang="en-US" sz="2400" dirty="0" smtClean="0"/>
              <a:t> turn administrative issues into quasi-research projects)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buClr>
                <a:schemeClr val="accent6">
                  <a:lumMod val="75000"/>
                </a:schemeClr>
              </a:buClr>
              <a:buFont typeface="Wingdings" charset="2"/>
              <a:buChar char="§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3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Need Bigger, Faster </a:t>
            </a:r>
            <a:r>
              <a:rPr lang="en-US" dirty="0" smtClean="0"/>
              <a:t>Computers than you can afford?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8344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Clr>
                <a:schemeClr val="accent6"/>
              </a:buClr>
              <a:buNone/>
            </a:pPr>
            <a:r>
              <a:rPr lang="en-US" dirty="0" smtClean="0"/>
              <a:t>IQSS Research </a:t>
            </a:r>
            <a:r>
              <a:rPr lang="en-US" dirty="0"/>
              <a:t>Computing Environment (RCE</a:t>
            </a:r>
            <a:r>
              <a:rPr lang="en-US" dirty="0" smtClean="0"/>
              <a:t>):</a:t>
            </a:r>
            <a:endParaRPr lang="en-US" dirty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&gt; 1300 shared computing cores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450 active users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A persistent environment, sign on from anywhere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Growing via collaborative research project (with Harvard CTO Jim Waldo and SEAS) to extend our platform to the Amazon cloud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4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Consulting and Training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Short courses: </a:t>
            </a:r>
            <a:r>
              <a:rPr lang="en-US" dirty="0" smtClean="0"/>
              <a:t>R, </a:t>
            </a:r>
            <a:r>
              <a:rPr lang="en-US" dirty="0" err="1" smtClean="0"/>
              <a:t>Stata</a:t>
            </a:r>
            <a:r>
              <a:rPr lang="en-US" dirty="0" smtClean="0"/>
              <a:t>, SAS, Numeric Data Resources, </a:t>
            </a:r>
            <a:r>
              <a:rPr lang="en-US" dirty="0" err="1" smtClean="0"/>
              <a:t>Atlas.ti</a:t>
            </a:r>
            <a:r>
              <a:rPr lang="en-US" dirty="0" smtClean="0"/>
              <a:t>, GIS, &amp; many IQSS technologies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Research consulting:</a:t>
            </a:r>
            <a:r>
              <a:rPr lang="en-US" dirty="0" smtClean="0"/>
              <a:t>  one-on-one help with data management and analysis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Survey Consulting:</a:t>
            </a:r>
            <a:r>
              <a:rPr lang="en-US" dirty="0" smtClean="0"/>
              <a:t> help with question wording, sampling, analysis, nonstandard data collection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Recently (re)grown with help from FAS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dirty="0" smtClean="0"/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OpenScholar</a:t>
            </a:r>
            <a:r>
              <a:rPr lang="en-US" dirty="0" smtClean="0"/>
              <a:t>: Faculty &amp; Student Web 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Picture 1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024" y="862852"/>
            <a:ext cx="5671150" cy="5284592"/>
          </a:xfrm>
          <a:prstGeom prst="rect">
            <a:avLst/>
          </a:prstGeom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904996" y="1735817"/>
            <a:ext cx="6076860" cy="4525963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800 </a:t>
            </a:r>
            <a:r>
              <a:rPr lang="en-US" sz="2800" dirty="0" smtClean="0">
                <a:solidFill>
                  <a:srgbClr val="FF0000"/>
                </a:solidFill>
              </a:rPr>
              <a:t>scholar</a:t>
            </a:r>
            <a:r>
              <a:rPr lang="en-US" sz="2800" dirty="0" smtClean="0"/>
              <a:t> sites, including 300 by faculty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120 </a:t>
            </a:r>
            <a:r>
              <a:rPr lang="en-US" sz="2800" dirty="0" smtClean="0">
                <a:solidFill>
                  <a:srgbClr val="FF0000"/>
                </a:solidFill>
              </a:rPr>
              <a:t>project</a:t>
            </a:r>
            <a:r>
              <a:rPr lang="en-US" sz="2800" dirty="0" smtClean="0"/>
              <a:t> sites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Free at scholar.harvard.edu</a:t>
            </a:r>
          </a:p>
          <a:p>
            <a:pPr marL="457200" lvl="1" indent="0">
              <a:buClr>
                <a:srgbClr val="E37F34"/>
              </a:buClr>
              <a:buNone/>
            </a:pPr>
            <a:r>
              <a:rPr lang="en-US" sz="2000" dirty="0" smtClean="0"/>
              <a:t>($5-20K saved per site)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Installation at &gt; 50 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Growing via collaboration (with HUIT and HPAC) to extend </a:t>
            </a:r>
            <a:r>
              <a:rPr lang="en-US" sz="2800" dirty="0" err="1" smtClean="0"/>
              <a:t>OpenScholar</a:t>
            </a:r>
            <a:r>
              <a:rPr lang="en-US" sz="2800" dirty="0" smtClean="0"/>
              <a:t> to </a:t>
            </a:r>
            <a:r>
              <a:rPr lang="en-US" sz="2800" dirty="0" smtClean="0">
                <a:solidFill>
                  <a:srgbClr val="FF0000"/>
                </a:solidFill>
              </a:rPr>
              <a:t>department</a:t>
            </a:r>
            <a:r>
              <a:rPr lang="en-US" sz="2800" dirty="0" smtClean="0"/>
              <a:t> sites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Picture 2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21601" y="849342"/>
            <a:ext cx="5870792" cy="52227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053630" y="1585916"/>
            <a:ext cx="6090370" cy="4525963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Your own </a:t>
            </a:r>
            <a:r>
              <a:rPr lang="en-US" sz="2800" dirty="0" smtClean="0">
                <a:solidFill>
                  <a:srgbClr val="FF0000"/>
                </a:solidFill>
              </a:rPr>
              <a:t>easy-to-use virtual archive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Our installation: ~ 1000 </a:t>
            </a:r>
            <a:r>
              <a:rPr lang="en-US" sz="2800" dirty="0" err="1" smtClean="0"/>
              <a:t>dataverses</a:t>
            </a:r>
            <a:r>
              <a:rPr lang="en-US" sz="2800" dirty="0" smtClean="0"/>
              <a:t>, 41,000 studies, 671,000 files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15 installations in 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Growing via collaboration (with the Harvard Library) to expand infrastructure for diverse projects across humanities, social sciences, &amp; sciences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sz="28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Zelig</a:t>
            </a:r>
            <a:r>
              <a:rPr lang="en-US" dirty="0" smtClean="0"/>
              <a:t>: Everyone’s Statistical Software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Easy, standardized solution to R’s power and diversity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≈100 statistical methods in common format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&gt; 100,000 users worldwide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(Optional GUI through </a:t>
            </a:r>
            <a:r>
              <a:rPr lang="en-US" dirty="0" err="1" smtClean="0"/>
              <a:t>Dataverse</a:t>
            </a:r>
            <a:r>
              <a:rPr lang="en-US" dirty="0" smtClean="0"/>
              <a:t>, no R knowledge required)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Large network effects: students </a:t>
            </a:r>
            <a:r>
              <a:rPr lang="en-US" dirty="0"/>
              <a:t>learning from each other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Growing via (open source) contributions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8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Program on Automated Text Analysis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E7C3B2A5-AB57-5549-A2BD-1355D6E0A998}" type="datetime3">
              <a:rPr lang="en-US" smtClean="0"/>
              <a:pPr/>
              <a:t>15 December 2011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Picture 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820" y="1354785"/>
            <a:ext cx="7623789" cy="5191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1937972" y="822323"/>
            <a:ext cx="7214724" cy="2028282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“Computer-assisted reading”, a new way to organize and make sense of huge amounts of unstructured text.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Advising with existing approaches available now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New approaches </a:t>
            </a:r>
            <a:r>
              <a:rPr lang="en-US" sz="2800" dirty="0"/>
              <a:t>u</a:t>
            </a:r>
            <a:r>
              <a:rPr lang="en-US" sz="2800" dirty="0" smtClean="0"/>
              <a:t>nder development, for public use in 2012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Grants Administration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37 active grants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30 – 40 proposals submitted annually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Pre- and post-award support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Working closely with department staff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Social scientists from FAS and other schools </a:t>
            </a:r>
            <a:r>
              <a:rPr lang="en-US" i="1" dirty="0" smtClean="0">
                <a:solidFill>
                  <a:srgbClr val="FF0000"/>
                </a:solidFill>
              </a:rPr>
              <a:t>come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for help &amp; </a:t>
            </a:r>
            <a:r>
              <a:rPr lang="en-US" i="1" dirty="0" smtClean="0">
                <a:solidFill>
                  <a:srgbClr val="FF0000"/>
                </a:solidFill>
              </a:rPr>
              <a:t>stay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to interact on research &amp; </a:t>
            </a:r>
            <a:r>
              <a:rPr lang="en-US" dirty="0" err="1" smtClean="0"/>
              <a:t>teachng</a:t>
            </a:r>
            <a:endParaRPr lang="en-US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10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IQSS Activities Build a Community of Scholars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837445" y="970290"/>
            <a:ext cx="38779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Administrative 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Support for PIs, Programs and Centers</a:t>
            </a:r>
          </a:p>
          <a:p>
            <a:pPr>
              <a:buFont typeface="Arial"/>
              <a:buChar char="•"/>
            </a:pPr>
            <a:r>
              <a:rPr lang="en-US" dirty="0" smtClean="0"/>
              <a:t> Sponsored Research Administration</a:t>
            </a:r>
            <a:endParaRPr lang="en-US" dirty="0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132720" y="2199604"/>
            <a:ext cx="2797290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and Technology Consultants</a:t>
            </a:r>
          </a:p>
          <a:p>
            <a:pPr>
              <a:buFont typeface="Arial"/>
              <a:buChar char="•"/>
            </a:pPr>
            <a:r>
              <a:rPr lang="en-US" dirty="0" smtClean="0"/>
              <a:t> Technical Training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Computing Environment (RCE)</a:t>
            </a:r>
          </a:p>
          <a:p>
            <a:pPr>
              <a:buFont typeface="Arial"/>
              <a:buChar char="•"/>
            </a:pPr>
            <a:r>
              <a:rPr lang="en-US" dirty="0" smtClean="0"/>
              <a:t> Repository for Social Science Data (</a:t>
            </a:r>
            <a:r>
              <a:rPr lang="en-US" dirty="0" err="1" smtClean="0"/>
              <a:t>Dataverse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r>
              <a:rPr lang="en-US" dirty="0" smtClean="0"/>
              <a:t> Faculty Web Sites (</a:t>
            </a:r>
            <a:r>
              <a:rPr lang="en-US" dirty="0" err="1" smtClean="0"/>
              <a:t>OpenScholar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234187" y="4696593"/>
            <a:ext cx="3013091" cy="17543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Development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OpenScholar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Zelig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Text Clustering Tool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Computing </a:t>
            </a:r>
            <a:endParaRPr lang="en-US" dirty="0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0" y="2483920"/>
            <a:ext cx="3234187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Research/Affiliated Programs</a:t>
            </a:r>
          </a:p>
          <a:p>
            <a:pPr>
              <a:buFont typeface="Arial"/>
              <a:buChar char="•"/>
            </a:pPr>
            <a:r>
              <a:rPr lang="en-US" dirty="0" smtClean="0"/>
              <a:t> Center for Geographic Analysis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Survey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Text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RWJS in Health Policy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Positive Political Economy</a:t>
            </a:r>
          </a:p>
          <a:p>
            <a:pPr>
              <a:buFont typeface="Arial"/>
              <a:buChar char="•"/>
            </a:pPr>
            <a:r>
              <a:rPr lang="en-US" dirty="0" smtClean="0"/>
              <a:t> Data Privacy Lab </a:t>
            </a:r>
          </a:p>
          <a:p>
            <a:pPr>
              <a:buFont typeface="Arial"/>
              <a:buChar char="•"/>
            </a:pPr>
            <a:r>
              <a:rPr lang="en-US" dirty="0" smtClean="0"/>
              <a:t> Workshops and Conferences</a:t>
            </a:r>
          </a:p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dirty="0" smtClean="0"/>
              <a:t>Program </a:t>
            </a:r>
            <a:r>
              <a:rPr lang="en-US" smtClean="0"/>
              <a:t>on Methods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0" name="Left Arrow 19"/>
          <p:cNvSpPr/>
          <p:nvPr>
            <p:custDataLst>
              <p:tags r:id="rId8"/>
            </p:custDataLst>
          </p:nvPr>
        </p:nvSpPr>
        <p:spPr>
          <a:xfrm flipH="1">
            <a:off x="2837445" y="3293777"/>
            <a:ext cx="878258" cy="475487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Arrow 20"/>
          <p:cNvSpPr/>
          <p:nvPr>
            <p:custDataLst>
              <p:tags r:id="rId9"/>
            </p:custDataLst>
          </p:nvPr>
        </p:nvSpPr>
        <p:spPr>
          <a:xfrm rot="16200000">
            <a:off x="4059939" y="2390868"/>
            <a:ext cx="867160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Arrow 21"/>
          <p:cNvSpPr/>
          <p:nvPr>
            <p:custDataLst>
              <p:tags r:id="rId10"/>
            </p:custDataLst>
          </p:nvPr>
        </p:nvSpPr>
        <p:spPr>
          <a:xfrm>
            <a:off x="5263058" y="3289204"/>
            <a:ext cx="886968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Arrow 22"/>
          <p:cNvSpPr/>
          <p:nvPr>
            <p:custDataLst>
              <p:tags r:id="rId11"/>
            </p:custDataLst>
          </p:nvPr>
        </p:nvSpPr>
        <p:spPr>
          <a:xfrm rot="5400000">
            <a:off x="4176623" y="4091947"/>
            <a:ext cx="724659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3696849" y="3198350"/>
            <a:ext cx="1662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Community &amp;</a:t>
            </a:r>
          </a:p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Collaboration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FNwIt2ELZ4vHG3EQ8slx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LJ38V8WFMKlhfFZdBDM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1tNAvMVH4zk72MEl6wPk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pOZQUQHLDwNIAklC9J5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7DdyfwffGGh7oLwV0Qm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e441LTFAb3AsGlDmAbv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7qtWz5eJfkXfxo9teLmA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wV4aiEfajjL7DB4cOr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c9XuSmq8NJCcX0uUV5Z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WLhvSayx8eyvSIVdOLTK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uqE4HTwLWyZgnGYZcRB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H4hzH7j6otqKM5e5QEC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TsxxPLHTzQxqIAN8co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wQDTTL60W31tLaP19hxpv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dlmEiHsd0LMmBUDW0AS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XXpY726UqECfqyw7OjuP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IZOd7wlxODhNHopfkAp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Kmt5qTMz8XufXBK0wLm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lrI97RuI4IUoR3RDqVE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Qd9rDzATmJH6oULVi1hQ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R6xTn5PIzXcBu0FdU8a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KFWRvCCKc5AEhk6FdOw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9cihVDNnISTnamSWvAd6O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0QIl7eVmPaxBtEAAZOnu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g6YeJHejUjo5irciG8N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dDKoiVZdhrgUjzBmSvd7v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ednm9nH8fHFC3tdPqMe5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7aYRAVNCzoyWox1WLCw8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eGv7825rTqCm5dnhMLkC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465GOt0CzuFyVimtNLx8v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k1sNzuPKNzrXBo2seBqg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Gwh5VjYz5ZLWM3d0UvNP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6YGXqlxVHfhckVwtzvLe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FCYedHUt1qAqipYSD29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zIiuqWh3sCEL0ks7keN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MKvd4BC8ck9G02fVIgXcX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LxoDqwIVuKoNYMhllEV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u50idbBXPzjOLKGGYcCto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Beg9rUCx1HGgsnldl6XF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Zc2AFnrjMTP8o3W2a3c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75uejCZhnqZLwf36Qff5I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MqjYhgjWUt9NS7ymlKs1p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QnROSVjNWVycj3UklIYq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JmWytTvDHujzW6tonD6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fFNus1oJ3ZWkL8rVnPTrh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ZtYdSkAMpYotG831S6T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nebY1s0Nd5VoXN1uNwpt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mELMkO1koedCfMfRRAZ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5Jk2x4At9iQSOjfFFZc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JbLHyEyTdksUz1rigWKU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VLmXVBbUZZ8UVZ9gPwVV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wpUKeenIf0D5OppJC3mY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ZD2i2qqOYNQfW3bnXwg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hPaJQ6TSzhRb5U6cVliP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YasFrGpsXAdINRzbkwW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Y4R94b1aYUVCxbyoqsc9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ScjkmaXiffNZ6Bwmunh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5gF0MU4KfF5tZWLQF01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JbsNT5HMyUVA63Emn2ev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7UDBzBEIgX3CIwuxZ0Y3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axpQIbiCYo9nCgPbku23h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XowaPn2fsw0K5cJTsqEZ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kUdHOGu0pPcGrrb1teV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QBwKYABADDYbu4CX7zmK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bxoKiHqWp3wLtjGXP5Tp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f4GgUiO8Gs4bg34sGVqt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hkacpgCC30AJV4XQ9AV3V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MEbf0d6dty4dRQrNnByVB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FId7pldjv0e9rgk77dH4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78KBUuwQQiYolQR97mIm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GpiVNclapM5cfcFYtabmF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do4JQ9gh7s8L1NOuy0Yk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3f08s9KwSweacTQ3mbT7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WO8WOFmsu0G3dWywinjBQB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3ubRaYCbnkVLlPIHH7xAz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xQBUDuDMrtNqbwXAYMUH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fqy1kEuMA43rXkgfk7yA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WLeUDitrsftUwAjhTZ4l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y2qA0lo5PGkqs82nXYQj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OBVlrXwsqZhOiurVLCEz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oLLg1JWaBp1ePEFTqy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QiFBZmntEllOa84IbGVi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k8EPyW1deEat2RwzGHvI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ohfCh5Id1Fvpg6WI4HJ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OwrftJZq0KRK9I3D80uuZ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5y1yv8u1HRALzUVf2i74ZB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TOQnqKXCrv6KFwSCuKB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f2Yn6go0KnlHe7Jxb4lwp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WRYrZ8bVBUdr4RRAlH1c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6jjTOnBHA0G61v7OpSzs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yHqbcbOoqsULKD2ueTrWu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0FEFkuZPomauLE76kNjU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kVwKsHjxL8QrOUGPY2sxf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MqmtRcJcczAq2jAZPYB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SuJxi45edmB5Kj6drl1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2Ad9s8oOesuqsQ4XhPTt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duDwo2CyEREVyRJjTF6X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OXzhSCwfPfd0hfUMG2BF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pHyAup7Y3lGv4xKvD8pM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F9bCZNSaxEDNEPX3JFZB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shzeOzSBDiI17dEZIkn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uB8cBxSCCyZ95iUbipbK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dlwCiY8Gs5DeBNY5CXkJ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2Y7l4x2YAzOhfCzjyJW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UtvW5GrR12xbuEaC39p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l7TjDOYpKUk1W46sLVHW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vpqFUTFaEOgzXj7kAIF1Y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kBrZAgtJNlppgGKAmhV9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bYRxSwLX2FSs4PeUjoGU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cRIdAxN3KvhbkBF5P9oli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YUDcK68KGStDBalCaYiE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YkI6UIXAieyfyTD7NpjTJ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OIHe14U03laLeUcOIPyf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ec6uuMAevus3HUoctVvo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Un7pcAAB3aFQzvBKxhjMx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IIw0OBfU3QyJiIm5zZDU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RkSBJnd4rX4FpScMYm8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hPdSosIj8DoqkFGV0vwP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Md3WcndEyi9yzuFJlVvLi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Fe5cwQYQCi3a3ZOrfk6t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gL5bggaBj0PryPRZRmFI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</TotalTime>
  <Words>650</Words>
  <Application>Microsoft Office PowerPoint</Application>
  <PresentationFormat>On-screen Show (4:3)</PresentationFormat>
  <Paragraphs>114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The Institute of Quantitative Social Science</vt:lpstr>
      <vt:lpstr>The Social Science Data Revolution</vt:lpstr>
      <vt:lpstr>IQSS </vt:lpstr>
      <vt:lpstr>Need Bigger, Faster Computers than you can afford?</vt:lpstr>
      <vt:lpstr>Consulting and Training</vt:lpstr>
      <vt:lpstr>OpenScholar: Faculty &amp; Student Web sites</vt:lpstr>
      <vt:lpstr>Dataverse Network</vt:lpstr>
      <vt:lpstr>Zelig: Everyone’s Statistical Software</vt:lpstr>
      <vt:lpstr>Program on Automated Text Analysis</vt:lpstr>
      <vt:lpstr>Grants Administration</vt:lpstr>
      <vt:lpstr>IQSS Activities Build a Community of Scholars </vt:lpstr>
    </vt:vector>
  </TitlesOfParts>
  <Company>Harvard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Merce Crosas</dc:creator>
  <cp:lastModifiedBy>Gary King</cp:lastModifiedBy>
  <cp:revision>59</cp:revision>
  <dcterms:created xsi:type="dcterms:W3CDTF">2011-12-13T23:03:55Z</dcterms:created>
  <dcterms:modified xsi:type="dcterms:W3CDTF">2011-12-15T15:26:33Z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1eKcOlxO6C-pC-SvU_N6is_EYUd455MHW4P320EWLFw8</vt:lpwstr>
  </property>
  <property fmtid="{D5CDD505-2E9C-101B-9397-08002B2CF9AE}" pid="3" name="Google.Documents.RevisionId">
    <vt:lpwstr>12942815523155315111</vt:lpwstr>
  </property>
  <property fmtid="{D5CDD505-2E9C-101B-9397-08002B2CF9AE}" pid="4" name="Google.Documents.PreviousRevisionId">
    <vt:lpwstr>10087033128193487281</vt:lpwstr>
  </property>
  <property fmtid="{D5CDD505-2E9C-101B-9397-08002B2CF9AE}" pid="5" name="Google.Documents.PluginVersion">
    <vt:lpwstr>2.0.2424.7283</vt:lpwstr>
  </property>
  <property fmtid="{D5CDD505-2E9C-101B-9397-08002B2CF9AE}" pid="6" name="Google.Documents.MergeIncapabilityFlags">
    <vt:i4>0</vt:i4>
  </property>
  <property fmtid="{D5CDD505-2E9C-101B-9397-08002B2CF9AE}" pid="7" name="Google.Documents.Tracking">
    <vt:lpwstr>true</vt:lpwstr>
  </property>
</Properties>
</file>